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Neo Tech" panose="020B0504030504040204" pitchFamily="34" charset="0"/>
      <p:regular r:id="rId10"/>
    </p:embeddedFont>
    <p:embeddedFont>
      <p:font typeface="Neo Tech Bold" panose="020B0804030504040204" pitchFamily="34" charset="0"/>
      <p:regular r:id="rId11"/>
    </p:embeddedFont>
    <p:embeddedFont>
      <p:font typeface="Neo Tech Light" panose="020B0304030504040204" pitchFamily="34"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presProps" Target="presProps.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font" Target="fonts/font3.fntdata" /><Relationship Id="rId2" Type="http://schemas.openxmlformats.org/officeDocument/2006/relationships/slide" Target="slides/slide1.xml" /><Relationship Id="rId16"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font" Target="fonts/font2.fntdata" /><Relationship Id="rId5" Type="http://schemas.openxmlformats.org/officeDocument/2006/relationships/slide" Target="slides/slide4.xml" /><Relationship Id="rId15" Type="http://schemas.openxmlformats.org/officeDocument/2006/relationships/theme" Target="theme/theme1.xml" /><Relationship Id="rId10" Type="http://schemas.openxmlformats.org/officeDocument/2006/relationships/font" Target="fonts/font1.fntdata"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viewProps" Target="view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svg" /><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svg" /><Relationship Id="rId5" Type="http://schemas.openxmlformats.org/officeDocument/2006/relationships/image" Target="../media/image4.png" /><Relationship Id="rId4" Type="http://schemas.openxmlformats.org/officeDocument/2006/relationships/image" Target="../media/image3.svg" /></Relationships>
</file>

<file path=ppt/slides/_rels/slide2.xml.rels><?xml version="1.0" encoding="UTF-8" standalone="yes"?>
<Relationships xmlns="http://schemas.openxmlformats.org/package/2006/relationships"><Relationship Id="rId3" Type="http://schemas.openxmlformats.org/officeDocument/2006/relationships/image" Target="../media/image8.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1.svg" /><Relationship Id="rId5" Type="http://schemas.openxmlformats.org/officeDocument/2006/relationships/image" Target="../media/image10.png" /><Relationship Id="rId4" Type="http://schemas.openxmlformats.org/officeDocument/2006/relationships/image" Target="../media/image9.svg" /></Relationships>
</file>

<file path=ppt/slides/_rels/slide3.xml.rels><?xml version="1.0" encoding="UTF-8" standalone="yes"?>
<Relationships xmlns="http://schemas.openxmlformats.org/package/2006/relationships"><Relationship Id="rId8" Type="http://schemas.openxmlformats.org/officeDocument/2006/relationships/image" Target="../media/image7.svg" /><Relationship Id="rId3" Type="http://schemas.openxmlformats.org/officeDocument/2006/relationships/image" Target="../media/image8.png" /><Relationship Id="rId7"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1.svg" /><Relationship Id="rId5" Type="http://schemas.openxmlformats.org/officeDocument/2006/relationships/image" Target="../media/image10.png" /><Relationship Id="rId4" Type="http://schemas.openxmlformats.org/officeDocument/2006/relationships/image" Target="../media/image9.svg" /></Relationships>
</file>

<file path=ppt/slides/_rels/slide4.xml.rels><?xml version="1.0" encoding="UTF-8" standalone="yes"?>
<Relationships xmlns="http://schemas.openxmlformats.org/package/2006/relationships"><Relationship Id="rId8" Type="http://schemas.openxmlformats.org/officeDocument/2006/relationships/image" Target="../media/image7.svg" /><Relationship Id="rId3" Type="http://schemas.openxmlformats.org/officeDocument/2006/relationships/image" Target="../media/image8.png" /><Relationship Id="rId7"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1.svg" /><Relationship Id="rId5" Type="http://schemas.openxmlformats.org/officeDocument/2006/relationships/image" Target="../media/image10.png" /><Relationship Id="rId4" Type="http://schemas.openxmlformats.org/officeDocument/2006/relationships/image" Target="../media/image9.svg" /></Relationships>
</file>

<file path=ppt/slides/_rels/slide5.xml.rels><?xml version="1.0" encoding="UTF-8" standalone="yes"?>
<Relationships xmlns="http://schemas.openxmlformats.org/package/2006/relationships"><Relationship Id="rId8" Type="http://schemas.openxmlformats.org/officeDocument/2006/relationships/image" Target="../media/image13.svg" /><Relationship Id="rId3" Type="http://schemas.openxmlformats.org/officeDocument/2006/relationships/image" Target="../media/image8.png" /><Relationship Id="rId7" Type="http://schemas.openxmlformats.org/officeDocument/2006/relationships/image" Target="../media/image12.png" /><Relationship Id="rId12" Type="http://schemas.openxmlformats.org/officeDocument/2006/relationships/image" Target="../media/image17.sv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1.svg" /><Relationship Id="rId11" Type="http://schemas.openxmlformats.org/officeDocument/2006/relationships/image" Target="../media/image16.png" /><Relationship Id="rId5" Type="http://schemas.openxmlformats.org/officeDocument/2006/relationships/image" Target="../media/image10.png" /><Relationship Id="rId10" Type="http://schemas.openxmlformats.org/officeDocument/2006/relationships/image" Target="../media/image15.svg" /><Relationship Id="rId4" Type="http://schemas.openxmlformats.org/officeDocument/2006/relationships/image" Target="../media/image9.svg" /><Relationship Id="rId9" Type="http://schemas.openxmlformats.org/officeDocument/2006/relationships/image" Target="../media/image14.png" /></Relationships>
</file>

<file path=ppt/slides/_rels/slide6.xml.rels><?xml version="1.0" encoding="UTF-8" standalone="yes"?>
<Relationships xmlns="http://schemas.openxmlformats.org/package/2006/relationships"><Relationship Id="rId8" Type="http://schemas.openxmlformats.org/officeDocument/2006/relationships/image" Target="../media/image19.svg" /><Relationship Id="rId3" Type="http://schemas.openxmlformats.org/officeDocument/2006/relationships/image" Target="../media/image8.png" /><Relationship Id="rId7" Type="http://schemas.openxmlformats.org/officeDocument/2006/relationships/image" Target="../media/image18.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1.svg" /><Relationship Id="rId5" Type="http://schemas.openxmlformats.org/officeDocument/2006/relationships/image" Target="../media/image10.png" /><Relationship Id="rId4" Type="http://schemas.openxmlformats.org/officeDocument/2006/relationships/image" Target="../media/image9.svg" /></Relationships>
</file>

<file path=ppt/slides/_rels/slide7.xml.rels><?xml version="1.0" encoding="UTF-8" standalone="yes"?>
<Relationships xmlns="http://schemas.openxmlformats.org/package/2006/relationships"><Relationship Id="rId8" Type="http://schemas.openxmlformats.org/officeDocument/2006/relationships/image" Target="../media/image19.svg" /><Relationship Id="rId3" Type="http://schemas.openxmlformats.org/officeDocument/2006/relationships/image" Target="../media/image8.png" /><Relationship Id="rId7" Type="http://schemas.openxmlformats.org/officeDocument/2006/relationships/image" Target="../media/image18.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11.svg" /><Relationship Id="rId5" Type="http://schemas.openxmlformats.org/officeDocument/2006/relationships/image" Target="../media/image10.png" /><Relationship Id="rId4" Type="http://schemas.openxmlformats.org/officeDocument/2006/relationships/image" Target="../media/image9.svg" /></Relationships>
</file>

<file path=ppt/slides/_rels/slide8.xml.rels><?xml version="1.0" encoding="UTF-8" standalone="yes"?>
<Relationships xmlns="http://schemas.openxmlformats.org/package/2006/relationships"><Relationship Id="rId8" Type="http://schemas.openxmlformats.org/officeDocument/2006/relationships/image" Target="../media/image7.svg" /><Relationship Id="rId3" Type="http://schemas.openxmlformats.org/officeDocument/2006/relationships/image" Target="../media/image2.png" /><Relationship Id="rId7" Type="http://schemas.openxmlformats.org/officeDocument/2006/relationships/image" Target="../media/image6.png" /><Relationship Id="rId2" Type="http://schemas.openxmlformats.org/officeDocument/2006/relationships/image" Target="../media/image1.png" /><Relationship Id="rId1" Type="http://schemas.openxmlformats.org/officeDocument/2006/relationships/slideLayout" Target="../slideLayouts/slideLayout7.xml" /><Relationship Id="rId6" Type="http://schemas.openxmlformats.org/officeDocument/2006/relationships/image" Target="../media/image5.svg" /><Relationship Id="rId5" Type="http://schemas.openxmlformats.org/officeDocument/2006/relationships/image" Target="../media/image4.png" /><Relationship Id="rId4" Type="http://schemas.openxmlformats.org/officeDocument/2006/relationships/image" Target="../media/image3.sv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9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9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8" name="Freeform 8"/>
          <p:cNvSpPr/>
          <p:nvPr/>
        </p:nvSpPr>
        <p:spPr>
          <a:xfrm>
            <a:off x="1729946" y="1028700"/>
            <a:ext cx="14828108" cy="8229600"/>
          </a:xfrm>
          <a:custGeom>
            <a:avLst/>
            <a:gdLst/>
            <a:ahLst/>
            <a:cxnLst/>
            <a:rect l="l" t="t" r="r" b="b"/>
            <a:pathLst>
              <a:path w="14828108" h="8229600">
                <a:moveTo>
                  <a:pt x="0" y="0"/>
                </a:moveTo>
                <a:lnTo>
                  <a:pt x="14828108" y="0"/>
                </a:lnTo>
                <a:lnTo>
                  <a:pt x="14828108"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471355" y="7684325"/>
            <a:ext cx="3731115" cy="2957757"/>
          </a:xfrm>
          <a:custGeom>
            <a:avLst/>
            <a:gdLst/>
            <a:ahLst/>
            <a:cxnLst/>
            <a:rect l="l" t="t" r="r" b="b"/>
            <a:pathLst>
              <a:path w="3731115" h="2957757">
                <a:moveTo>
                  <a:pt x="0" y="0"/>
                </a:moveTo>
                <a:lnTo>
                  <a:pt x="3731115" y="0"/>
                </a:lnTo>
                <a:lnTo>
                  <a:pt x="3731115" y="2957757"/>
                </a:lnTo>
                <a:lnTo>
                  <a:pt x="0" y="29577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flipH="1">
            <a:off x="15604847" y="-832180"/>
            <a:ext cx="3396344" cy="2692375"/>
          </a:xfrm>
          <a:custGeom>
            <a:avLst/>
            <a:gdLst/>
            <a:ahLst/>
            <a:cxnLst/>
            <a:rect l="l" t="t" r="r" b="b"/>
            <a:pathLst>
              <a:path w="3396344" h="2692375">
                <a:moveTo>
                  <a:pt x="3396345" y="0"/>
                </a:moveTo>
                <a:lnTo>
                  <a:pt x="0" y="0"/>
                </a:lnTo>
                <a:lnTo>
                  <a:pt x="0" y="2692375"/>
                </a:lnTo>
                <a:lnTo>
                  <a:pt x="3396345" y="2692375"/>
                </a:lnTo>
                <a:lnTo>
                  <a:pt x="3396345"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AutoShape 11"/>
          <p:cNvSpPr/>
          <p:nvPr/>
        </p:nvSpPr>
        <p:spPr>
          <a:xfrm flipV="1">
            <a:off x="4030157" y="4766747"/>
            <a:ext cx="10227686" cy="0"/>
          </a:xfrm>
          <a:prstGeom prst="line">
            <a:avLst/>
          </a:prstGeom>
          <a:ln w="38100" cap="flat">
            <a:solidFill>
              <a:srgbClr val="FFFFFF"/>
            </a:solidFill>
            <a:prstDash val="solid"/>
            <a:headEnd type="none" w="sm" len="sm"/>
            <a:tailEnd type="none" w="sm" len="sm"/>
          </a:ln>
        </p:spPr>
      </p:sp>
      <p:sp>
        <p:nvSpPr>
          <p:cNvPr id="12" name="Freeform 12"/>
          <p:cNvSpPr/>
          <p:nvPr/>
        </p:nvSpPr>
        <p:spPr>
          <a:xfrm>
            <a:off x="3259760" y="6378821"/>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a:off x="12781048" y="6378821"/>
            <a:ext cx="2242799" cy="1529181"/>
          </a:xfrm>
          <a:custGeom>
            <a:avLst/>
            <a:gdLst/>
            <a:ahLst/>
            <a:cxnLst/>
            <a:rect l="l" t="t" r="r" b="b"/>
            <a:pathLst>
              <a:path w="2242799" h="1529181">
                <a:moveTo>
                  <a:pt x="0" y="0"/>
                </a:moveTo>
                <a:lnTo>
                  <a:pt x="2242800" y="0"/>
                </a:lnTo>
                <a:lnTo>
                  <a:pt x="2242800"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3311673" y="2788551"/>
            <a:ext cx="11664653" cy="1608393"/>
          </a:xfrm>
          <a:prstGeom prst="rect">
            <a:avLst/>
          </a:prstGeom>
        </p:spPr>
        <p:txBody>
          <a:bodyPr lIns="0" tIns="0" rIns="0" bIns="0" rtlCol="0" anchor="t">
            <a:spAutoFit/>
          </a:bodyPr>
          <a:lstStyle/>
          <a:p>
            <a:pPr algn="ctr">
              <a:lnSpc>
                <a:spcPts val="11367"/>
              </a:lnSpc>
            </a:pPr>
            <a:r>
              <a:rPr lang="en-US" sz="8881" b="1">
                <a:solidFill>
                  <a:srgbClr val="1EF1FF"/>
                </a:solidFill>
                <a:latin typeface="Neo Tech Bold"/>
                <a:ea typeface="Neo Tech Bold"/>
                <a:cs typeface="Neo Tech Bold"/>
                <a:sym typeface="Neo Tech Bold"/>
              </a:rPr>
              <a:t>GPIO DAN DIGITAL I/O</a:t>
            </a:r>
          </a:p>
        </p:txBody>
      </p:sp>
      <p:sp>
        <p:nvSpPr>
          <p:cNvPr id="15" name="TextBox 15"/>
          <p:cNvSpPr txBox="1"/>
          <p:nvPr/>
        </p:nvSpPr>
        <p:spPr>
          <a:xfrm>
            <a:off x="3766550" y="5159595"/>
            <a:ext cx="10754899" cy="2144256"/>
          </a:xfrm>
          <a:prstGeom prst="rect">
            <a:avLst/>
          </a:prstGeom>
        </p:spPr>
        <p:txBody>
          <a:bodyPr lIns="0" tIns="0" rIns="0" bIns="0" rtlCol="0" anchor="t">
            <a:spAutoFit/>
          </a:bodyPr>
          <a:lstStyle/>
          <a:p>
            <a:pPr algn="ctr">
              <a:lnSpc>
                <a:spcPts val="5461"/>
              </a:lnSpc>
            </a:pPr>
            <a:r>
              <a:rPr lang="en-US" sz="4267" spc="-123">
                <a:solidFill>
                  <a:srgbClr val="FFFFFF"/>
                </a:solidFill>
                <a:latin typeface="Neo Tech"/>
                <a:ea typeface="Neo Tech"/>
                <a:cs typeface="Neo Tech"/>
                <a:sym typeface="Neo Tech"/>
              </a:rPr>
              <a:t>HIDAYAH AFITA SARI</a:t>
            </a:r>
          </a:p>
          <a:p>
            <a:pPr algn="ctr">
              <a:lnSpc>
                <a:spcPts val="5461"/>
              </a:lnSpc>
            </a:pPr>
            <a:r>
              <a:rPr lang="en-US" sz="4267" spc="-123">
                <a:solidFill>
                  <a:srgbClr val="FFFFFF"/>
                </a:solidFill>
                <a:latin typeface="Neo Tech"/>
                <a:ea typeface="Neo Tech"/>
                <a:cs typeface="Neo Tech"/>
                <a:sym typeface="Neo Tech"/>
              </a:rPr>
              <a:t>40040324620014</a:t>
            </a:r>
          </a:p>
          <a:p>
            <a:pPr algn="ctr">
              <a:lnSpc>
                <a:spcPts val="5461"/>
              </a:lnSpc>
            </a:pPr>
            <a:r>
              <a:rPr lang="en-US" sz="4267" spc="-123">
                <a:solidFill>
                  <a:srgbClr val="FFFFFF"/>
                </a:solidFill>
                <a:latin typeface="Neo Tech"/>
                <a:ea typeface="Neo Tech"/>
                <a:cs typeface="Neo Tech"/>
                <a:sym typeface="Neo Tech"/>
              </a:rPr>
              <a:t>PRAKTIKUM SISTEM EMBEDDED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10287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10800000">
            <a:off x="3969121" y="8389236"/>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1028700" y="1028700"/>
            <a:ext cx="16230600" cy="8229600"/>
            <a:chOff x="0" y="0"/>
            <a:chExt cx="4274726" cy="2167467"/>
          </a:xfrm>
        </p:grpSpPr>
        <p:sp>
          <p:nvSpPr>
            <p:cNvPr id="14" name="Freeform 14"/>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id="15" name="TextBox 1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28700" y="2751622"/>
            <a:ext cx="3507719" cy="242352"/>
          </a:xfrm>
          <a:custGeom>
            <a:avLst/>
            <a:gdLst/>
            <a:ahLst/>
            <a:cxnLst/>
            <a:rect l="l" t="t" r="r" b="b"/>
            <a:pathLst>
              <a:path w="3507719" h="242352">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flipH="1">
            <a:off x="13751581" y="2751622"/>
            <a:ext cx="3507719" cy="242352"/>
          </a:xfrm>
          <a:custGeom>
            <a:avLst/>
            <a:gdLst/>
            <a:ahLst/>
            <a:cxnLst/>
            <a:rect l="l" t="t" r="r" b="b"/>
            <a:pathLst>
              <a:path w="3507719" h="242352">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6726512" y="2278877"/>
            <a:ext cx="5103954" cy="1037505"/>
          </a:xfrm>
          <a:prstGeom prst="rect">
            <a:avLst/>
          </a:prstGeom>
        </p:spPr>
        <p:txBody>
          <a:bodyPr lIns="0" tIns="0" rIns="0" bIns="0" rtlCol="0" anchor="t">
            <a:spAutoFit/>
          </a:bodyPr>
          <a:lstStyle/>
          <a:p>
            <a:pPr algn="ctr">
              <a:lnSpc>
                <a:spcPts val="7394"/>
              </a:lnSpc>
            </a:pPr>
            <a:r>
              <a:rPr lang="en-US" sz="5776" b="1">
                <a:solidFill>
                  <a:srgbClr val="90F8FF"/>
                </a:solidFill>
                <a:latin typeface="Neo Tech Bold"/>
                <a:ea typeface="Neo Tech Bold"/>
                <a:cs typeface="Neo Tech Bold"/>
                <a:sym typeface="Neo Tech Bold"/>
              </a:rPr>
              <a:t>APA ITU GPIO?</a:t>
            </a:r>
          </a:p>
        </p:txBody>
      </p:sp>
      <p:sp>
        <p:nvSpPr>
          <p:cNvPr id="19" name="TextBox 19"/>
          <p:cNvSpPr txBox="1"/>
          <p:nvPr/>
        </p:nvSpPr>
        <p:spPr>
          <a:xfrm>
            <a:off x="3307510" y="3638168"/>
            <a:ext cx="11962567" cy="3955904"/>
          </a:xfrm>
          <a:prstGeom prst="rect">
            <a:avLst/>
          </a:prstGeom>
        </p:spPr>
        <p:txBody>
          <a:bodyPr lIns="0" tIns="0" rIns="0" bIns="0" rtlCol="0" anchor="t">
            <a:spAutoFit/>
          </a:bodyPr>
          <a:lstStyle/>
          <a:p>
            <a:pPr algn="just">
              <a:lnSpc>
                <a:spcPts val="5200"/>
              </a:lnSpc>
            </a:pPr>
            <a:r>
              <a:rPr lang="en-US" sz="3041" spc="33">
                <a:solidFill>
                  <a:srgbClr val="FFFFFF"/>
                </a:solidFill>
                <a:latin typeface="Neo Tech Light"/>
                <a:ea typeface="Neo Tech Light"/>
                <a:cs typeface="Neo Tech Light"/>
                <a:sym typeface="Neo Tech Light"/>
              </a:rPr>
              <a:t>GPIO (General Purpose Input Output) adalah pin pada mikrokontroller yang dapat diprogram untuk berfungsi sebagai input atau output digital sesuai kebutuhan sistem. GPIO digunakan untuk berinteraksi dengan perangkat luar seperti sensor, LED, relay, tombol, dan modul lainnya. Denga GPIO, mikrokontroller dapat membaca sinyal dari perangkat eksternal atau mengirimkan sinyal untuk mengendalikan perangkat tersebut.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10287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10800000">
            <a:off x="3969121" y="8389236"/>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1028700" y="1028700"/>
            <a:ext cx="16230600" cy="8229600"/>
            <a:chOff x="0" y="0"/>
            <a:chExt cx="4274726" cy="2167467"/>
          </a:xfrm>
        </p:grpSpPr>
        <p:sp>
          <p:nvSpPr>
            <p:cNvPr id="14" name="Freeform 14"/>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id="15" name="TextBox 1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28700" y="2751622"/>
            <a:ext cx="3507719" cy="242352"/>
          </a:xfrm>
          <a:custGeom>
            <a:avLst/>
            <a:gdLst/>
            <a:ahLst/>
            <a:cxnLst/>
            <a:rect l="l" t="t" r="r" b="b"/>
            <a:pathLst>
              <a:path w="3507719" h="242352">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flipH="1">
            <a:off x="13751581" y="2751622"/>
            <a:ext cx="3507719" cy="242352"/>
          </a:xfrm>
          <a:custGeom>
            <a:avLst/>
            <a:gdLst/>
            <a:ahLst/>
            <a:cxnLst/>
            <a:rect l="l" t="t" r="r" b="b"/>
            <a:pathLst>
              <a:path w="3507719" h="242352">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5758448" y="2278877"/>
            <a:ext cx="7040082" cy="1037505"/>
          </a:xfrm>
          <a:prstGeom prst="rect">
            <a:avLst/>
          </a:prstGeom>
        </p:spPr>
        <p:txBody>
          <a:bodyPr lIns="0" tIns="0" rIns="0" bIns="0" rtlCol="0" anchor="t">
            <a:spAutoFit/>
          </a:bodyPr>
          <a:lstStyle/>
          <a:p>
            <a:pPr algn="ctr">
              <a:lnSpc>
                <a:spcPts val="7394"/>
              </a:lnSpc>
            </a:pPr>
            <a:r>
              <a:rPr lang="en-US" sz="5776" b="1">
                <a:solidFill>
                  <a:srgbClr val="90F8FF"/>
                </a:solidFill>
                <a:latin typeface="Neo Tech Bold"/>
                <a:ea typeface="Neo Tech Bold"/>
                <a:cs typeface="Neo Tech Bold"/>
                <a:sym typeface="Neo Tech Bold"/>
              </a:rPr>
              <a:t>APA ITU DIGITAL I/O</a:t>
            </a:r>
          </a:p>
        </p:txBody>
      </p:sp>
      <p:sp>
        <p:nvSpPr>
          <p:cNvPr id="19" name="Freeform 19"/>
          <p:cNvSpPr/>
          <p:nvPr/>
        </p:nvSpPr>
        <p:spPr>
          <a:xfrm>
            <a:off x="1726322" y="7750879"/>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20"/>
          <p:cNvSpPr/>
          <p:nvPr/>
        </p:nvSpPr>
        <p:spPr>
          <a:xfrm>
            <a:off x="14148677" y="7750879"/>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3542873" y="3116358"/>
            <a:ext cx="11962567" cy="5502382"/>
          </a:xfrm>
          <a:prstGeom prst="rect">
            <a:avLst/>
          </a:prstGeom>
        </p:spPr>
        <p:txBody>
          <a:bodyPr lIns="0" tIns="0" rIns="0" bIns="0" rtlCol="0" anchor="t">
            <a:spAutoFit/>
          </a:bodyPr>
          <a:lstStyle/>
          <a:p>
            <a:pPr algn="just">
              <a:lnSpc>
                <a:spcPts val="4858"/>
              </a:lnSpc>
            </a:pPr>
            <a:r>
              <a:rPr lang="en-US" sz="2841" spc="31">
                <a:solidFill>
                  <a:srgbClr val="FFFFFF"/>
                </a:solidFill>
                <a:latin typeface="Neo Tech Light"/>
                <a:ea typeface="Neo Tech Light"/>
                <a:cs typeface="Neo Tech Light"/>
                <a:sym typeface="Neo Tech Light"/>
              </a:rPr>
              <a:t>Digital I/O (Digital Input Output) adalah konsep dasar komunikasi digital pada mikrokontroller yang hanya memiliki dua kondisi logika yaitu HIGH (1) dan LOW (0). Digital input digunakan untuk membaca kondisi sinyal dari perangkat seperti tombol atau sensor digital, sedangkan digital output digunakan untuk mengirimkan sinyal untuk mengaktifkan perangkat seperti LED, buzzer, atau motor driver.</a:t>
            </a:r>
          </a:p>
          <a:p>
            <a:pPr algn="just">
              <a:lnSpc>
                <a:spcPts val="4858"/>
              </a:lnSpc>
            </a:pPr>
            <a:r>
              <a:rPr lang="en-US" sz="2841" spc="31">
                <a:solidFill>
                  <a:srgbClr val="FFFFFF"/>
                </a:solidFill>
                <a:latin typeface="Neo Tech Light"/>
                <a:ea typeface="Neo Tech Light"/>
                <a:cs typeface="Neo Tech Light"/>
                <a:sym typeface="Neo Tech Light"/>
              </a:rPr>
              <a:t>Dengan demikian, GPIO merupakan pin fisik pada mikrokontroller, sedangkan Digital I/O adalah fungsi kerja dari pin tersebut dalam membaca atau mengirim sinyal digital.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10287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10800000">
            <a:off x="3969121" y="8389236"/>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1028700" y="1028700"/>
            <a:ext cx="16230600" cy="8229600"/>
            <a:chOff x="0" y="0"/>
            <a:chExt cx="4274726" cy="2167467"/>
          </a:xfrm>
        </p:grpSpPr>
        <p:sp>
          <p:nvSpPr>
            <p:cNvPr id="14" name="Freeform 14"/>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id="15" name="TextBox 1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28700" y="2751622"/>
            <a:ext cx="3507719" cy="242352"/>
          </a:xfrm>
          <a:custGeom>
            <a:avLst/>
            <a:gdLst/>
            <a:ahLst/>
            <a:cxnLst/>
            <a:rect l="l" t="t" r="r" b="b"/>
            <a:pathLst>
              <a:path w="3507719" h="242352">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flipH="1">
            <a:off x="13751581" y="2751622"/>
            <a:ext cx="3507719" cy="242352"/>
          </a:xfrm>
          <a:custGeom>
            <a:avLst/>
            <a:gdLst/>
            <a:ahLst/>
            <a:cxnLst/>
            <a:rect l="l" t="t" r="r" b="b"/>
            <a:pathLst>
              <a:path w="3507719" h="242352">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TextBox 18"/>
          <p:cNvSpPr txBox="1"/>
          <p:nvPr/>
        </p:nvSpPr>
        <p:spPr>
          <a:xfrm>
            <a:off x="5651897" y="1754889"/>
            <a:ext cx="6984206" cy="1742295"/>
          </a:xfrm>
          <a:prstGeom prst="rect">
            <a:avLst/>
          </a:prstGeom>
        </p:spPr>
        <p:txBody>
          <a:bodyPr lIns="0" tIns="0" rIns="0" bIns="0" rtlCol="0" anchor="t">
            <a:spAutoFit/>
          </a:bodyPr>
          <a:lstStyle/>
          <a:p>
            <a:pPr algn="ctr">
              <a:lnSpc>
                <a:spcPts val="6498"/>
              </a:lnSpc>
            </a:pPr>
            <a:r>
              <a:rPr lang="en-US" sz="5076" b="1">
                <a:solidFill>
                  <a:srgbClr val="90F8FF"/>
                </a:solidFill>
                <a:latin typeface="Neo Tech Bold"/>
                <a:ea typeface="Neo Tech Bold"/>
                <a:cs typeface="Neo Tech Bold"/>
                <a:sym typeface="Neo Tech Bold"/>
              </a:rPr>
              <a:t>PERBANDINGAN I/O</a:t>
            </a:r>
          </a:p>
          <a:p>
            <a:pPr algn="ctr">
              <a:lnSpc>
                <a:spcPts val="6498"/>
              </a:lnSpc>
            </a:pPr>
            <a:r>
              <a:rPr lang="en-US" sz="5076" b="1">
                <a:solidFill>
                  <a:srgbClr val="90F8FF"/>
                </a:solidFill>
                <a:latin typeface="Neo Tech Bold"/>
                <a:ea typeface="Neo Tech Bold"/>
                <a:cs typeface="Neo Tech Bold"/>
                <a:sym typeface="Neo Tech Bold"/>
              </a:rPr>
              <a:t>PADA ESP DAN STM32</a:t>
            </a:r>
          </a:p>
        </p:txBody>
      </p:sp>
      <p:sp>
        <p:nvSpPr>
          <p:cNvPr id="19" name="Freeform 19"/>
          <p:cNvSpPr/>
          <p:nvPr/>
        </p:nvSpPr>
        <p:spPr>
          <a:xfrm>
            <a:off x="1726322" y="7750879"/>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Freeform 20"/>
          <p:cNvSpPr/>
          <p:nvPr/>
        </p:nvSpPr>
        <p:spPr>
          <a:xfrm>
            <a:off x="14148677" y="7750879"/>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1" name="TextBox 21"/>
          <p:cNvSpPr txBox="1"/>
          <p:nvPr/>
        </p:nvSpPr>
        <p:spPr>
          <a:xfrm>
            <a:off x="3730479" y="3369011"/>
            <a:ext cx="11962567" cy="978768"/>
          </a:xfrm>
          <a:prstGeom prst="rect">
            <a:avLst/>
          </a:prstGeom>
        </p:spPr>
        <p:txBody>
          <a:bodyPr lIns="0" tIns="0" rIns="0" bIns="0" rtlCol="0" anchor="t">
            <a:spAutoFit/>
          </a:bodyPr>
          <a:lstStyle/>
          <a:p>
            <a:pPr algn="just">
              <a:lnSpc>
                <a:spcPts val="3832"/>
              </a:lnSpc>
            </a:pPr>
            <a:r>
              <a:rPr lang="en-US" sz="2241" spc="24">
                <a:solidFill>
                  <a:srgbClr val="FFFFFF"/>
                </a:solidFill>
                <a:latin typeface="Neo Tech"/>
                <a:ea typeface="Neo Tech"/>
                <a:cs typeface="Neo Tech"/>
                <a:sym typeface="Neo Tech"/>
              </a:rPr>
              <a:t>Mikrokontroller ESP (seperti ESP32 atau ESP8266) dan STM (STM32) sama -sama memiliki GPIO, namun memiliki beberapa perbedaan pada kemampuan dan penggunaannya.</a:t>
            </a:r>
          </a:p>
        </p:txBody>
      </p:sp>
      <p:sp>
        <p:nvSpPr>
          <p:cNvPr id="22" name="TextBox 22"/>
          <p:cNvSpPr txBox="1"/>
          <p:nvPr/>
        </p:nvSpPr>
        <p:spPr>
          <a:xfrm>
            <a:off x="3017923" y="4598011"/>
            <a:ext cx="5301880" cy="3369924"/>
          </a:xfrm>
          <a:prstGeom prst="rect">
            <a:avLst/>
          </a:prstGeom>
        </p:spPr>
        <p:txBody>
          <a:bodyPr lIns="0" tIns="0" rIns="0" bIns="0" rtlCol="0" anchor="t">
            <a:spAutoFit/>
          </a:bodyPr>
          <a:lstStyle/>
          <a:p>
            <a:pPr algn="just">
              <a:lnSpc>
                <a:spcPts val="3319"/>
              </a:lnSpc>
            </a:pPr>
            <a:r>
              <a:rPr lang="en-US" sz="1941" b="1" spc="21">
                <a:solidFill>
                  <a:srgbClr val="FFFFFF"/>
                </a:solidFill>
                <a:latin typeface="Neo Tech Bold"/>
                <a:ea typeface="Neo Tech Bold"/>
                <a:cs typeface="Neo Tech Bold"/>
                <a:sym typeface="Neo Tech Bold"/>
              </a:rPr>
              <a:t>ESP32</a:t>
            </a:r>
          </a:p>
          <a:p>
            <a:pPr algn="just">
              <a:lnSpc>
                <a:spcPts val="3319"/>
              </a:lnSpc>
            </a:pPr>
            <a:r>
              <a:rPr lang="en-US" sz="1941" spc="21">
                <a:solidFill>
                  <a:srgbClr val="FFFFFF"/>
                </a:solidFill>
                <a:latin typeface="Neo Tech"/>
                <a:ea typeface="Neo Tech"/>
                <a:cs typeface="Neo Tech"/>
                <a:sym typeface="Neo Tech"/>
              </a:rPr>
              <a:t>Jumlah GPIO cukup banyak dan sebagian besar pin dapat digunakan sebagai input maupun output dengan konfigurasi yang fleksibel. ESP32 juga memiliki fitur tambahan seperti Wi-Fi dan Bluetooth, sehingga sering digunakan pada sistem Internet of Things (IoT). Tegangan logika yang digunakan biasanya 3.3V.</a:t>
            </a:r>
          </a:p>
        </p:txBody>
      </p:sp>
      <p:sp>
        <p:nvSpPr>
          <p:cNvPr id="23" name="TextBox 23"/>
          <p:cNvSpPr txBox="1"/>
          <p:nvPr/>
        </p:nvSpPr>
        <p:spPr>
          <a:xfrm>
            <a:off x="9711763" y="4598011"/>
            <a:ext cx="5301880" cy="3369924"/>
          </a:xfrm>
          <a:prstGeom prst="rect">
            <a:avLst/>
          </a:prstGeom>
        </p:spPr>
        <p:txBody>
          <a:bodyPr lIns="0" tIns="0" rIns="0" bIns="0" rtlCol="0" anchor="t">
            <a:spAutoFit/>
          </a:bodyPr>
          <a:lstStyle/>
          <a:p>
            <a:pPr algn="just">
              <a:lnSpc>
                <a:spcPts val="3319"/>
              </a:lnSpc>
            </a:pPr>
            <a:r>
              <a:rPr lang="en-US" sz="1941" b="1" spc="21">
                <a:solidFill>
                  <a:srgbClr val="FFFFFF"/>
                </a:solidFill>
                <a:latin typeface="Neo Tech Bold"/>
                <a:ea typeface="Neo Tech Bold"/>
                <a:cs typeface="Neo Tech Bold"/>
                <a:sym typeface="Neo Tech Bold"/>
              </a:rPr>
              <a:t>STM32</a:t>
            </a:r>
          </a:p>
          <a:p>
            <a:pPr algn="just">
              <a:lnSpc>
                <a:spcPts val="3319"/>
              </a:lnSpc>
            </a:pPr>
            <a:r>
              <a:rPr lang="en-US" sz="1941" spc="21">
                <a:solidFill>
                  <a:srgbClr val="FFFFFF"/>
                </a:solidFill>
                <a:latin typeface="Neo Tech"/>
                <a:ea typeface="Neo Tech"/>
                <a:cs typeface="Neo Tech"/>
                <a:sym typeface="Neo Tech"/>
              </a:rPr>
              <a:t>GPIO juga sangat fleksibel namun biasanya memiliki lebih banyak mode konfigurasi, seperti input, output, analog, alternate function, pull-up, dan pull-down, STM32 juga sering digunakan dalam sistem embedded yang membutuhkan kontrol lebih presisi, seperti sistem otomasi, robotika, dan kontrol industri</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10287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10800000">
            <a:off x="3969121" y="8389236"/>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1028700" y="1028700"/>
            <a:ext cx="16230600" cy="8229600"/>
            <a:chOff x="0" y="0"/>
            <a:chExt cx="4274726" cy="2167467"/>
          </a:xfrm>
        </p:grpSpPr>
        <p:sp>
          <p:nvSpPr>
            <p:cNvPr id="14" name="Freeform 14"/>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id="15" name="TextBox 1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6" name="Freeform 16"/>
          <p:cNvSpPr/>
          <p:nvPr/>
        </p:nvSpPr>
        <p:spPr>
          <a:xfrm>
            <a:off x="1028700" y="2751622"/>
            <a:ext cx="3507719" cy="242352"/>
          </a:xfrm>
          <a:custGeom>
            <a:avLst/>
            <a:gdLst/>
            <a:ahLst/>
            <a:cxnLst/>
            <a:rect l="l" t="t" r="r" b="b"/>
            <a:pathLst>
              <a:path w="3507719" h="242352">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7" name="Freeform 17"/>
          <p:cNvSpPr/>
          <p:nvPr/>
        </p:nvSpPr>
        <p:spPr>
          <a:xfrm flipH="1">
            <a:off x="13751581" y="2751622"/>
            <a:ext cx="3507719" cy="242352"/>
          </a:xfrm>
          <a:custGeom>
            <a:avLst/>
            <a:gdLst/>
            <a:ahLst/>
            <a:cxnLst/>
            <a:rect l="l" t="t" r="r" b="b"/>
            <a:pathLst>
              <a:path w="3507719" h="242352">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Freeform 18"/>
          <p:cNvSpPr/>
          <p:nvPr/>
        </p:nvSpPr>
        <p:spPr>
          <a:xfrm>
            <a:off x="1785305" y="4002787"/>
            <a:ext cx="1232618" cy="1190036"/>
          </a:xfrm>
          <a:custGeom>
            <a:avLst/>
            <a:gdLst/>
            <a:ahLst/>
            <a:cxnLst/>
            <a:rect l="l" t="t" r="r" b="b"/>
            <a:pathLst>
              <a:path w="1232618" h="1190036">
                <a:moveTo>
                  <a:pt x="0" y="0"/>
                </a:moveTo>
                <a:lnTo>
                  <a:pt x="1232618" y="0"/>
                </a:lnTo>
                <a:lnTo>
                  <a:pt x="1232618" y="1190037"/>
                </a:lnTo>
                <a:lnTo>
                  <a:pt x="0" y="1190037"/>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9" name="Freeform 19"/>
          <p:cNvSpPr/>
          <p:nvPr/>
        </p:nvSpPr>
        <p:spPr>
          <a:xfrm>
            <a:off x="1904080" y="6085273"/>
            <a:ext cx="995069" cy="1145975"/>
          </a:xfrm>
          <a:custGeom>
            <a:avLst/>
            <a:gdLst/>
            <a:ahLst/>
            <a:cxnLst/>
            <a:rect l="l" t="t" r="r" b="b"/>
            <a:pathLst>
              <a:path w="995069" h="1145975">
                <a:moveTo>
                  <a:pt x="0" y="0"/>
                </a:moveTo>
                <a:lnTo>
                  <a:pt x="995069" y="0"/>
                </a:lnTo>
                <a:lnTo>
                  <a:pt x="995069" y="1145975"/>
                </a:lnTo>
                <a:lnTo>
                  <a:pt x="0" y="1145975"/>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sp>
      <p:sp>
        <p:nvSpPr>
          <p:cNvPr id="20" name="Freeform 20"/>
          <p:cNvSpPr/>
          <p:nvPr/>
        </p:nvSpPr>
        <p:spPr>
          <a:xfrm>
            <a:off x="15270077" y="264094"/>
            <a:ext cx="2861156" cy="3204961"/>
          </a:xfrm>
          <a:custGeom>
            <a:avLst/>
            <a:gdLst/>
            <a:ahLst/>
            <a:cxnLst/>
            <a:rect l="l" t="t" r="r" b="b"/>
            <a:pathLst>
              <a:path w="2861156" h="3204961">
                <a:moveTo>
                  <a:pt x="0" y="0"/>
                </a:moveTo>
                <a:lnTo>
                  <a:pt x="2861155" y="0"/>
                </a:lnTo>
                <a:lnTo>
                  <a:pt x="2861155" y="3204960"/>
                </a:lnTo>
                <a:lnTo>
                  <a:pt x="0" y="3204960"/>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sp>
      <p:grpSp>
        <p:nvGrpSpPr>
          <p:cNvPr id="21" name="Group 21"/>
          <p:cNvGrpSpPr/>
          <p:nvPr/>
        </p:nvGrpSpPr>
        <p:grpSpPr>
          <a:xfrm>
            <a:off x="14578380" y="3626272"/>
            <a:ext cx="212350" cy="212350"/>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3" name="TextBox 23"/>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4" name="Group 24"/>
          <p:cNvGrpSpPr/>
          <p:nvPr/>
        </p:nvGrpSpPr>
        <p:grpSpPr>
          <a:xfrm>
            <a:off x="15664793" y="4431079"/>
            <a:ext cx="166726" cy="166726"/>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6" name="TextBox 26"/>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27" name="Group 27"/>
          <p:cNvGrpSpPr/>
          <p:nvPr/>
        </p:nvGrpSpPr>
        <p:grpSpPr>
          <a:xfrm>
            <a:off x="16029785" y="5646372"/>
            <a:ext cx="211959" cy="211959"/>
            <a:chOff x="0" y="0"/>
            <a:chExt cx="812800" cy="812800"/>
          </a:xfrm>
        </p:grpSpPr>
        <p:sp>
          <p:nvSpPr>
            <p:cNvPr id="28" name="Freeform 2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29" name="TextBox 29"/>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grpSp>
        <p:nvGrpSpPr>
          <p:cNvPr id="30" name="Group 30"/>
          <p:cNvGrpSpPr/>
          <p:nvPr/>
        </p:nvGrpSpPr>
        <p:grpSpPr>
          <a:xfrm>
            <a:off x="14405571" y="5026898"/>
            <a:ext cx="211959" cy="211959"/>
            <a:chOff x="0" y="0"/>
            <a:chExt cx="812800" cy="812800"/>
          </a:xfrm>
        </p:grpSpPr>
        <p:sp>
          <p:nvSpPr>
            <p:cNvPr id="31" name="Freeform 3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id="32" name="TextBox 32"/>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3512093" y="4158141"/>
            <a:ext cx="8996261" cy="1327004"/>
          </a:xfrm>
          <a:prstGeom prst="rect">
            <a:avLst/>
          </a:prstGeom>
        </p:spPr>
        <p:txBody>
          <a:bodyPr lIns="0" tIns="0" rIns="0" bIns="0" rtlCol="0" anchor="t">
            <a:spAutoFit/>
          </a:bodyPr>
          <a:lstStyle/>
          <a:p>
            <a:pPr algn="l">
              <a:lnSpc>
                <a:spcPts val="5200"/>
              </a:lnSpc>
            </a:pPr>
            <a:r>
              <a:rPr lang="en-US" sz="3041" spc="33">
                <a:solidFill>
                  <a:srgbClr val="FFFFFF"/>
                </a:solidFill>
                <a:latin typeface="Neo Tech"/>
                <a:ea typeface="Neo Tech"/>
                <a:cs typeface="Neo Tech"/>
                <a:sym typeface="Neo Tech"/>
              </a:rPr>
              <a:t>ESP lebih banyak digunakan untuk aplikasi IoT dan komunikasi nirkabel.</a:t>
            </a:r>
          </a:p>
        </p:txBody>
      </p:sp>
      <p:sp>
        <p:nvSpPr>
          <p:cNvPr id="34" name="TextBox 34"/>
          <p:cNvSpPr txBox="1"/>
          <p:nvPr/>
        </p:nvSpPr>
        <p:spPr>
          <a:xfrm>
            <a:off x="3512093" y="5904245"/>
            <a:ext cx="11904060" cy="1327004"/>
          </a:xfrm>
          <a:prstGeom prst="rect">
            <a:avLst/>
          </a:prstGeom>
        </p:spPr>
        <p:txBody>
          <a:bodyPr lIns="0" tIns="0" rIns="0" bIns="0" rtlCol="0" anchor="t">
            <a:spAutoFit/>
          </a:bodyPr>
          <a:lstStyle/>
          <a:p>
            <a:pPr algn="l">
              <a:lnSpc>
                <a:spcPts val="5200"/>
              </a:lnSpc>
            </a:pPr>
            <a:r>
              <a:rPr lang="en-US" sz="3041" spc="33">
                <a:solidFill>
                  <a:srgbClr val="FFFFFF"/>
                </a:solidFill>
                <a:latin typeface="Neo Tech"/>
                <a:ea typeface="Neo Tech"/>
                <a:cs typeface="Neo Tech"/>
                <a:sym typeface="Neo Tech"/>
              </a:rPr>
              <a:t>STM32 lebih sering digunakan untuk sistem kontrol dan embedded system yang kompleks.</a:t>
            </a:r>
          </a:p>
        </p:txBody>
      </p:sp>
      <p:sp>
        <p:nvSpPr>
          <p:cNvPr id="35" name="TextBox 35"/>
          <p:cNvSpPr txBox="1"/>
          <p:nvPr/>
        </p:nvSpPr>
        <p:spPr>
          <a:xfrm>
            <a:off x="5651897" y="1754889"/>
            <a:ext cx="6984206" cy="2567795"/>
          </a:xfrm>
          <a:prstGeom prst="rect">
            <a:avLst/>
          </a:prstGeom>
        </p:spPr>
        <p:txBody>
          <a:bodyPr lIns="0" tIns="0" rIns="0" bIns="0" rtlCol="0" anchor="t">
            <a:spAutoFit/>
          </a:bodyPr>
          <a:lstStyle/>
          <a:p>
            <a:pPr algn="ctr">
              <a:lnSpc>
                <a:spcPts val="6498"/>
              </a:lnSpc>
            </a:pPr>
            <a:r>
              <a:rPr lang="en-US" sz="5076" b="1">
                <a:solidFill>
                  <a:srgbClr val="90F8FF"/>
                </a:solidFill>
                <a:latin typeface="Neo Tech Bold"/>
                <a:ea typeface="Neo Tech Bold"/>
                <a:cs typeface="Neo Tech Bold"/>
                <a:sym typeface="Neo Tech Bold"/>
              </a:rPr>
              <a:t>PERBANDINGAN I/O</a:t>
            </a:r>
          </a:p>
          <a:p>
            <a:pPr algn="ctr">
              <a:lnSpc>
                <a:spcPts val="6498"/>
              </a:lnSpc>
            </a:pPr>
            <a:r>
              <a:rPr lang="en-US" sz="5076" b="1">
                <a:solidFill>
                  <a:srgbClr val="90F8FF"/>
                </a:solidFill>
                <a:latin typeface="Neo Tech Bold"/>
                <a:ea typeface="Neo Tech Bold"/>
                <a:cs typeface="Neo Tech Bold"/>
                <a:sym typeface="Neo Tech Bold"/>
              </a:rPr>
              <a:t>PADA ESP DAN STM32</a:t>
            </a:r>
          </a:p>
          <a:p>
            <a:pPr algn="ctr">
              <a:lnSpc>
                <a:spcPts val="6498"/>
              </a:lnSpc>
            </a:pPr>
            <a:r>
              <a:rPr lang="en-US" sz="5076" b="1">
                <a:solidFill>
                  <a:srgbClr val="90F8FF"/>
                </a:solidFill>
                <a:latin typeface="Neo Tech Bold"/>
                <a:ea typeface="Neo Tech Bold"/>
                <a:cs typeface="Neo Tech Bold"/>
                <a:sym typeface="Neo Tech Bold"/>
              </a:rPr>
              <a:t>SECARA UMUM</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10287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10800000">
            <a:off x="3969121" y="8389236"/>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1028700" y="1028700"/>
            <a:ext cx="16230600" cy="8229600"/>
            <a:chOff x="0" y="0"/>
            <a:chExt cx="4274726" cy="2167467"/>
          </a:xfrm>
        </p:grpSpPr>
        <p:sp>
          <p:nvSpPr>
            <p:cNvPr id="14" name="Freeform 14"/>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id="15" name="TextBox 1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3880048" y="2057641"/>
            <a:ext cx="10527904" cy="926174"/>
          </a:xfrm>
          <a:prstGeom prst="rect">
            <a:avLst/>
          </a:prstGeom>
        </p:spPr>
        <p:txBody>
          <a:bodyPr lIns="0" tIns="0" rIns="0" bIns="0" rtlCol="0" anchor="t">
            <a:spAutoFit/>
          </a:bodyPr>
          <a:lstStyle/>
          <a:p>
            <a:pPr algn="ctr">
              <a:lnSpc>
                <a:spcPts val="6516"/>
              </a:lnSpc>
            </a:pPr>
            <a:r>
              <a:rPr lang="en-US" sz="5091" b="1">
                <a:solidFill>
                  <a:srgbClr val="90F8FF"/>
                </a:solidFill>
                <a:latin typeface="Neo Tech Bold"/>
                <a:ea typeface="Neo Tech Bold"/>
                <a:cs typeface="Neo Tech Bold"/>
                <a:sym typeface="Neo Tech Bold"/>
              </a:rPr>
              <a:t>PERPINDAHAN I/O ANTAR SISTEM</a:t>
            </a:r>
          </a:p>
        </p:txBody>
      </p:sp>
      <p:sp>
        <p:nvSpPr>
          <p:cNvPr id="17" name="Freeform 17"/>
          <p:cNvSpPr/>
          <p:nvPr/>
        </p:nvSpPr>
        <p:spPr>
          <a:xfrm>
            <a:off x="1028700" y="2482306"/>
            <a:ext cx="3507719" cy="242352"/>
          </a:xfrm>
          <a:custGeom>
            <a:avLst/>
            <a:gdLst/>
            <a:ahLst/>
            <a:cxnLst/>
            <a:rect l="l" t="t" r="r" b="b"/>
            <a:pathLst>
              <a:path w="3507719" h="242352">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Freeform 18"/>
          <p:cNvSpPr/>
          <p:nvPr/>
        </p:nvSpPr>
        <p:spPr>
          <a:xfrm flipH="1">
            <a:off x="13751581" y="2482306"/>
            <a:ext cx="3507719" cy="242352"/>
          </a:xfrm>
          <a:custGeom>
            <a:avLst/>
            <a:gdLst/>
            <a:ahLst/>
            <a:cxnLst/>
            <a:rect l="l" t="t" r="r" b="b"/>
            <a:pathLst>
              <a:path w="3507719" h="242352">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9"/>
          <p:cNvSpPr/>
          <p:nvPr/>
        </p:nvSpPr>
        <p:spPr>
          <a:xfrm>
            <a:off x="2029374" y="3753332"/>
            <a:ext cx="3879494" cy="3879494"/>
          </a:xfrm>
          <a:custGeom>
            <a:avLst/>
            <a:gdLst/>
            <a:ahLst/>
            <a:cxnLst/>
            <a:rect l="l" t="t" r="r" b="b"/>
            <a:pathLst>
              <a:path w="3879494" h="3879494">
                <a:moveTo>
                  <a:pt x="0" y="0"/>
                </a:moveTo>
                <a:lnTo>
                  <a:pt x="3879494" y="0"/>
                </a:lnTo>
                <a:lnTo>
                  <a:pt x="3879494" y="3879494"/>
                </a:lnTo>
                <a:lnTo>
                  <a:pt x="0" y="38794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TextBox 20"/>
          <p:cNvSpPr txBox="1"/>
          <p:nvPr/>
        </p:nvSpPr>
        <p:spPr>
          <a:xfrm>
            <a:off x="7259341" y="3767730"/>
            <a:ext cx="9121312" cy="3204570"/>
          </a:xfrm>
          <a:prstGeom prst="rect">
            <a:avLst/>
          </a:prstGeom>
        </p:spPr>
        <p:txBody>
          <a:bodyPr lIns="0" tIns="0" rIns="0" bIns="0" rtlCol="0" anchor="t">
            <a:spAutoFit/>
          </a:bodyPr>
          <a:lstStyle/>
          <a:p>
            <a:pPr algn="l">
              <a:lnSpc>
                <a:spcPts val="3661"/>
              </a:lnSpc>
            </a:pPr>
            <a:r>
              <a:rPr lang="en-US" sz="2141" spc="23">
                <a:solidFill>
                  <a:srgbClr val="FFFFFF"/>
                </a:solidFill>
                <a:latin typeface="Neo Tech"/>
                <a:ea typeface="Neo Tech"/>
                <a:cs typeface="Neo Tech"/>
                <a:sym typeface="Neo Tech"/>
              </a:rPr>
              <a:t>Perpindahan I/O antar sistem adalah proses pertukaran data atau sinyal antara dua mikrokontroller dengan perangkat lain. Hal ini dapat dilakukan melalui beberapa metode komunikasi.</a:t>
            </a:r>
          </a:p>
          <a:p>
            <a:pPr algn="l">
              <a:lnSpc>
                <a:spcPts val="3661"/>
              </a:lnSpc>
            </a:pPr>
            <a:endParaRPr lang="en-US" sz="2141" spc="23">
              <a:solidFill>
                <a:srgbClr val="FFFFFF"/>
              </a:solidFill>
              <a:latin typeface="Neo Tech"/>
              <a:ea typeface="Neo Tech"/>
              <a:cs typeface="Neo Tech"/>
              <a:sym typeface="Neo Tech"/>
            </a:endParaRPr>
          </a:p>
          <a:p>
            <a:pPr algn="l">
              <a:lnSpc>
                <a:spcPts val="3661"/>
              </a:lnSpc>
            </a:pPr>
            <a:r>
              <a:rPr lang="en-US" sz="2141" spc="23">
                <a:solidFill>
                  <a:srgbClr val="FFFFFF"/>
                </a:solidFill>
                <a:latin typeface="Neo Tech"/>
                <a:ea typeface="Neo Tech"/>
                <a:cs typeface="Neo Tech"/>
                <a:sym typeface="Neo Tech"/>
              </a:rPr>
              <a:t>Salah satu metode yang paling sederhana adalah komunikasi digital langsung melalui GPIO, dimana satu mikrokontroller mengirim sinyal output yang kemudian dibaca sebagai input oleh mikrokontroller lain.</a:t>
            </a:r>
          </a:p>
        </p:txBody>
      </p:sp>
      <p:sp>
        <p:nvSpPr>
          <p:cNvPr id="21" name="AutoShape 21"/>
          <p:cNvSpPr/>
          <p:nvPr/>
        </p:nvSpPr>
        <p:spPr>
          <a:xfrm>
            <a:off x="7259341" y="3772382"/>
            <a:ext cx="8246100" cy="0"/>
          </a:xfrm>
          <a:prstGeom prst="line">
            <a:avLst/>
          </a:prstGeom>
          <a:ln w="38100" cap="flat">
            <a:solidFill>
              <a:srgbClr val="FFFFFF"/>
            </a:solidFill>
            <a:prstDash val="solid"/>
            <a:headEnd type="none" w="sm" len="sm"/>
            <a:tailEnd type="none" w="sm" len="sm"/>
          </a:ln>
        </p:spPr>
      </p:sp>
      <p:sp>
        <p:nvSpPr>
          <p:cNvPr id="22" name="AutoShape 22"/>
          <p:cNvSpPr/>
          <p:nvPr/>
        </p:nvSpPr>
        <p:spPr>
          <a:xfrm>
            <a:off x="7259341" y="7613776"/>
            <a:ext cx="8246100" cy="0"/>
          </a:xfrm>
          <a:prstGeom prst="line">
            <a:avLst/>
          </a:prstGeom>
          <a:ln w="38100" cap="flat">
            <a:solidFill>
              <a:srgbClr val="FFFFFF"/>
            </a:solidFill>
            <a:prstDash val="solid"/>
            <a:headEnd type="none" w="sm" len="sm"/>
            <a:tailEnd type="none" w="sm" len="sm"/>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44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44999"/>
            </a:blip>
            <a:stretch>
              <a:fillRect/>
            </a:stretch>
          </a:blipFill>
        </p:spPr>
      </p:sp>
      <p:grpSp>
        <p:nvGrpSpPr>
          <p:cNvPr id="8" name="Group 8"/>
          <p:cNvGrpSpPr/>
          <p:nvPr/>
        </p:nvGrpSpPr>
        <p:grpSpPr>
          <a:xfrm>
            <a:off x="1028700" y="1028700"/>
            <a:ext cx="16230600" cy="8229600"/>
            <a:chOff x="0" y="0"/>
            <a:chExt cx="4274726" cy="2167467"/>
          </a:xfrm>
        </p:grpSpPr>
        <p:sp>
          <p:nvSpPr>
            <p:cNvPr id="9" name="Freeform 9"/>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solidFill>
              <a:srgbClr val="113566">
                <a:alpha val="92941"/>
              </a:srgbClr>
            </a:solidFill>
            <a:ln cap="rnd">
              <a:noFill/>
              <a:prstDash val="solid"/>
              <a:round/>
            </a:ln>
          </p:spPr>
        </p:sp>
        <p:sp>
          <p:nvSpPr>
            <p:cNvPr id="10" name="TextBox 10"/>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1" name="Freeform 11"/>
          <p:cNvSpPr/>
          <p:nvPr/>
        </p:nvSpPr>
        <p:spPr>
          <a:xfrm>
            <a:off x="3969121" y="1028700"/>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12" name="Freeform 12"/>
          <p:cNvSpPr/>
          <p:nvPr/>
        </p:nvSpPr>
        <p:spPr>
          <a:xfrm rot="-10800000">
            <a:off x="3969121" y="8389236"/>
            <a:ext cx="10349757" cy="869064"/>
          </a:xfrm>
          <a:custGeom>
            <a:avLst/>
            <a:gdLst/>
            <a:ahLst/>
            <a:cxnLst/>
            <a:rect l="l" t="t" r="r" b="b"/>
            <a:pathLst>
              <a:path w="10349757" h="869064">
                <a:moveTo>
                  <a:pt x="0" y="0"/>
                </a:moveTo>
                <a:lnTo>
                  <a:pt x="10349758" y="0"/>
                </a:lnTo>
                <a:lnTo>
                  <a:pt x="10349758" y="869064"/>
                </a:lnTo>
                <a:lnTo>
                  <a:pt x="0" y="869064"/>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grpSp>
        <p:nvGrpSpPr>
          <p:cNvPr id="13" name="Group 13"/>
          <p:cNvGrpSpPr/>
          <p:nvPr/>
        </p:nvGrpSpPr>
        <p:grpSpPr>
          <a:xfrm>
            <a:off x="1028700" y="1028700"/>
            <a:ext cx="16230600" cy="8229600"/>
            <a:chOff x="0" y="0"/>
            <a:chExt cx="4274726" cy="2167467"/>
          </a:xfrm>
        </p:grpSpPr>
        <p:sp>
          <p:nvSpPr>
            <p:cNvPr id="14" name="Freeform 14"/>
            <p:cNvSpPr/>
            <p:nvPr/>
          </p:nvSpPr>
          <p:spPr>
            <a:xfrm>
              <a:off x="0" y="0"/>
              <a:ext cx="4274726" cy="2167467"/>
            </a:xfrm>
            <a:custGeom>
              <a:avLst/>
              <a:gdLst/>
              <a:ahLst/>
              <a:cxnLst/>
              <a:rect l="l" t="t" r="r" b="b"/>
              <a:pathLst>
                <a:path w="4274726" h="2167467">
                  <a:moveTo>
                    <a:pt x="14310" y="0"/>
                  </a:moveTo>
                  <a:lnTo>
                    <a:pt x="4260416" y="0"/>
                  </a:lnTo>
                  <a:cubicBezTo>
                    <a:pt x="4264211" y="0"/>
                    <a:pt x="4267851" y="1508"/>
                    <a:pt x="4270535" y="4191"/>
                  </a:cubicBezTo>
                  <a:cubicBezTo>
                    <a:pt x="4273218" y="6875"/>
                    <a:pt x="4274726" y="10515"/>
                    <a:pt x="4274726" y="14310"/>
                  </a:cubicBezTo>
                  <a:lnTo>
                    <a:pt x="4274726" y="2153157"/>
                  </a:lnTo>
                  <a:cubicBezTo>
                    <a:pt x="4274726" y="2156952"/>
                    <a:pt x="4273218" y="2160592"/>
                    <a:pt x="4270535" y="2163276"/>
                  </a:cubicBezTo>
                  <a:cubicBezTo>
                    <a:pt x="4267851" y="2165959"/>
                    <a:pt x="4264211" y="2167467"/>
                    <a:pt x="4260416" y="2167467"/>
                  </a:cubicBezTo>
                  <a:lnTo>
                    <a:pt x="14310" y="2167467"/>
                  </a:lnTo>
                  <a:cubicBezTo>
                    <a:pt x="10515" y="2167467"/>
                    <a:pt x="6875" y="2165959"/>
                    <a:pt x="4191" y="2163276"/>
                  </a:cubicBezTo>
                  <a:cubicBezTo>
                    <a:pt x="1508" y="2160592"/>
                    <a:pt x="0" y="2156952"/>
                    <a:pt x="0" y="2153157"/>
                  </a:cubicBezTo>
                  <a:lnTo>
                    <a:pt x="0" y="14310"/>
                  </a:lnTo>
                  <a:cubicBezTo>
                    <a:pt x="0" y="10515"/>
                    <a:pt x="1508" y="6875"/>
                    <a:pt x="4191" y="4191"/>
                  </a:cubicBezTo>
                  <a:cubicBezTo>
                    <a:pt x="6875" y="1508"/>
                    <a:pt x="10515" y="0"/>
                    <a:pt x="14310" y="0"/>
                  </a:cubicBezTo>
                  <a:close/>
                </a:path>
              </a:pathLst>
            </a:custGeom>
            <a:ln w="85725" cap="rnd">
              <a:solidFill>
                <a:srgbClr val="1EF1FF"/>
              </a:solidFill>
              <a:prstDash val="solid"/>
              <a:round/>
            </a:ln>
          </p:spPr>
        </p:sp>
        <p:sp>
          <p:nvSpPr>
            <p:cNvPr id="15" name="TextBox 15"/>
            <p:cNvSpPr txBox="1"/>
            <p:nvPr/>
          </p:nvSpPr>
          <p:spPr>
            <a:xfrm>
              <a:off x="0" y="-38100"/>
              <a:ext cx="4274726" cy="2205567"/>
            </a:xfrm>
            <a:prstGeom prst="rect">
              <a:avLst/>
            </a:prstGeom>
          </p:spPr>
          <p:txBody>
            <a:bodyPr lIns="50800" tIns="50800" rIns="50800" bIns="50800" rtlCol="0" anchor="ctr"/>
            <a:lstStyle/>
            <a:p>
              <a:pPr algn="ctr">
                <a:lnSpc>
                  <a:spcPts val="2659"/>
                </a:lnSpc>
                <a:spcBef>
                  <a:spcPct val="0"/>
                </a:spcBef>
              </a:pPr>
              <a:endParaRPr/>
            </a:p>
          </p:txBody>
        </p:sp>
      </p:grpSp>
      <p:sp>
        <p:nvSpPr>
          <p:cNvPr id="16" name="TextBox 16"/>
          <p:cNvSpPr txBox="1"/>
          <p:nvPr/>
        </p:nvSpPr>
        <p:spPr>
          <a:xfrm>
            <a:off x="3983434" y="2076691"/>
            <a:ext cx="10321132" cy="898615"/>
          </a:xfrm>
          <a:prstGeom prst="rect">
            <a:avLst/>
          </a:prstGeom>
        </p:spPr>
        <p:txBody>
          <a:bodyPr lIns="0" tIns="0" rIns="0" bIns="0" rtlCol="0" anchor="t">
            <a:spAutoFit/>
          </a:bodyPr>
          <a:lstStyle/>
          <a:p>
            <a:pPr algn="ctr">
              <a:lnSpc>
                <a:spcPts val="6388"/>
              </a:lnSpc>
            </a:pPr>
            <a:r>
              <a:rPr lang="en-US" sz="4991" b="1">
                <a:solidFill>
                  <a:srgbClr val="90F8FF"/>
                </a:solidFill>
                <a:latin typeface="Neo Tech Bold"/>
                <a:ea typeface="Neo Tech Bold"/>
                <a:cs typeface="Neo Tech Bold"/>
                <a:sym typeface="Neo Tech Bold"/>
              </a:rPr>
              <a:t>PERPINDAHAN I/O ANTAR SISTEM</a:t>
            </a:r>
          </a:p>
        </p:txBody>
      </p:sp>
      <p:sp>
        <p:nvSpPr>
          <p:cNvPr id="17" name="Freeform 17"/>
          <p:cNvSpPr/>
          <p:nvPr/>
        </p:nvSpPr>
        <p:spPr>
          <a:xfrm>
            <a:off x="1028700" y="2482306"/>
            <a:ext cx="3507719" cy="242352"/>
          </a:xfrm>
          <a:custGeom>
            <a:avLst/>
            <a:gdLst/>
            <a:ahLst/>
            <a:cxnLst/>
            <a:rect l="l" t="t" r="r" b="b"/>
            <a:pathLst>
              <a:path w="3507719" h="242352">
                <a:moveTo>
                  <a:pt x="0" y="0"/>
                </a:moveTo>
                <a:lnTo>
                  <a:pt x="3507719" y="0"/>
                </a:lnTo>
                <a:lnTo>
                  <a:pt x="3507719" y="242351"/>
                </a:lnTo>
                <a:lnTo>
                  <a:pt x="0" y="242351"/>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8" name="Freeform 18"/>
          <p:cNvSpPr/>
          <p:nvPr/>
        </p:nvSpPr>
        <p:spPr>
          <a:xfrm flipH="1">
            <a:off x="13751581" y="2482306"/>
            <a:ext cx="3507719" cy="242352"/>
          </a:xfrm>
          <a:custGeom>
            <a:avLst/>
            <a:gdLst/>
            <a:ahLst/>
            <a:cxnLst/>
            <a:rect l="l" t="t" r="r" b="b"/>
            <a:pathLst>
              <a:path w="3507719" h="242352">
                <a:moveTo>
                  <a:pt x="3507719" y="0"/>
                </a:moveTo>
                <a:lnTo>
                  <a:pt x="0" y="0"/>
                </a:lnTo>
                <a:lnTo>
                  <a:pt x="0" y="242351"/>
                </a:lnTo>
                <a:lnTo>
                  <a:pt x="3507719" y="242351"/>
                </a:lnTo>
                <a:lnTo>
                  <a:pt x="3507719"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9" name="Freeform 19"/>
          <p:cNvSpPr/>
          <p:nvPr/>
        </p:nvSpPr>
        <p:spPr>
          <a:xfrm>
            <a:off x="2029374" y="3753332"/>
            <a:ext cx="3879494" cy="3879494"/>
          </a:xfrm>
          <a:custGeom>
            <a:avLst/>
            <a:gdLst/>
            <a:ahLst/>
            <a:cxnLst/>
            <a:rect l="l" t="t" r="r" b="b"/>
            <a:pathLst>
              <a:path w="3879494" h="3879494">
                <a:moveTo>
                  <a:pt x="0" y="0"/>
                </a:moveTo>
                <a:lnTo>
                  <a:pt x="3879494" y="0"/>
                </a:lnTo>
                <a:lnTo>
                  <a:pt x="3879494" y="3879494"/>
                </a:lnTo>
                <a:lnTo>
                  <a:pt x="0" y="38794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20" name="AutoShape 20"/>
          <p:cNvSpPr/>
          <p:nvPr/>
        </p:nvSpPr>
        <p:spPr>
          <a:xfrm>
            <a:off x="7259341" y="3772382"/>
            <a:ext cx="8246100" cy="0"/>
          </a:xfrm>
          <a:prstGeom prst="line">
            <a:avLst/>
          </a:prstGeom>
          <a:ln w="38100" cap="flat">
            <a:solidFill>
              <a:srgbClr val="FFFFFF"/>
            </a:solidFill>
            <a:prstDash val="solid"/>
            <a:headEnd type="none" w="sm" len="sm"/>
            <a:tailEnd type="none" w="sm" len="sm"/>
          </a:ln>
        </p:spPr>
      </p:sp>
      <p:sp>
        <p:nvSpPr>
          <p:cNvPr id="21" name="AutoShape 21"/>
          <p:cNvSpPr/>
          <p:nvPr/>
        </p:nvSpPr>
        <p:spPr>
          <a:xfrm>
            <a:off x="7259341" y="7613776"/>
            <a:ext cx="8246100" cy="0"/>
          </a:xfrm>
          <a:prstGeom prst="line">
            <a:avLst/>
          </a:prstGeom>
          <a:ln w="38100" cap="flat">
            <a:solidFill>
              <a:srgbClr val="FFFFFF"/>
            </a:solidFill>
            <a:prstDash val="solid"/>
            <a:headEnd type="none" w="sm" len="sm"/>
            <a:tailEnd type="none" w="sm" len="sm"/>
          </a:ln>
        </p:spPr>
      </p:sp>
      <p:sp>
        <p:nvSpPr>
          <p:cNvPr id="22" name="TextBox 22"/>
          <p:cNvSpPr txBox="1"/>
          <p:nvPr/>
        </p:nvSpPr>
        <p:spPr>
          <a:xfrm>
            <a:off x="7259341" y="3921962"/>
            <a:ext cx="9121312" cy="3661770"/>
          </a:xfrm>
          <a:prstGeom prst="rect">
            <a:avLst/>
          </a:prstGeom>
        </p:spPr>
        <p:txBody>
          <a:bodyPr lIns="0" tIns="0" rIns="0" bIns="0" rtlCol="0" anchor="t">
            <a:spAutoFit/>
          </a:bodyPr>
          <a:lstStyle/>
          <a:p>
            <a:pPr algn="just">
              <a:lnSpc>
                <a:spcPts val="3661"/>
              </a:lnSpc>
            </a:pPr>
            <a:r>
              <a:rPr lang="en-US" sz="2141" spc="23">
                <a:solidFill>
                  <a:srgbClr val="FFFFFF"/>
                </a:solidFill>
                <a:latin typeface="Neo Tech"/>
                <a:ea typeface="Neo Tech"/>
                <a:cs typeface="Neo Tech"/>
                <a:sym typeface="Neo Tech"/>
              </a:rPr>
              <a:t>Selain itu, perpindahan data antar sistem juga dapat dilakukan menggunakan protokol komunikasi, seperti:</a:t>
            </a:r>
          </a:p>
          <a:p>
            <a:pPr marL="462349" lvl="1" indent="-231175" algn="just">
              <a:lnSpc>
                <a:spcPts val="3661"/>
              </a:lnSpc>
              <a:buAutoNum type="arabicPeriod"/>
            </a:pPr>
            <a:r>
              <a:rPr lang="en-US" sz="2141" spc="23">
                <a:solidFill>
                  <a:srgbClr val="FFFFFF"/>
                </a:solidFill>
                <a:latin typeface="Neo Tech"/>
                <a:ea typeface="Neo Tech"/>
                <a:cs typeface="Neo Tech"/>
                <a:sym typeface="Neo Tech"/>
              </a:rPr>
              <a:t> UART (Universal Asynchronous Receiver Transmitter)  → komunikasi serial sederhana antara dua perangkat.</a:t>
            </a:r>
          </a:p>
          <a:p>
            <a:pPr marL="462349" lvl="1" indent="-231175" algn="just">
              <a:lnSpc>
                <a:spcPts val="3661"/>
              </a:lnSpc>
              <a:buAutoNum type="arabicPeriod"/>
            </a:pPr>
            <a:r>
              <a:rPr lang="en-US" sz="2141" spc="23">
                <a:solidFill>
                  <a:srgbClr val="FFFFFF"/>
                </a:solidFill>
                <a:latin typeface="Neo Tech"/>
                <a:ea typeface="Neo Tech"/>
                <a:cs typeface="Neo Tech"/>
                <a:sym typeface="Neo Tech"/>
              </a:rPr>
              <a:t>I2C (Inter-Integrated Circuit) → komunikasi menggunakan dua jalur yaitu SDA dan SCL.</a:t>
            </a:r>
          </a:p>
          <a:p>
            <a:pPr marL="462349" lvl="1" indent="-231175" algn="just">
              <a:lnSpc>
                <a:spcPts val="3661"/>
              </a:lnSpc>
              <a:buAutoNum type="arabicPeriod"/>
            </a:pPr>
            <a:r>
              <a:rPr lang="en-US" sz="2141" spc="23">
                <a:solidFill>
                  <a:srgbClr val="FFFFFF"/>
                </a:solidFill>
                <a:latin typeface="Neo Tech"/>
                <a:ea typeface="Neo Tech"/>
                <a:cs typeface="Neo Tech"/>
                <a:sym typeface="Neo Tech"/>
              </a:rPr>
              <a:t>SPI (Serial Peripheral Interface) → komunikasi serial dengan kecepatan tinggi menggunakan beberapa jalut data</a:t>
            </a:r>
          </a:p>
        </p:txBody>
      </p:sp>
      <p:sp>
        <p:nvSpPr>
          <p:cNvPr id="23" name="TextBox 23"/>
          <p:cNvSpPr txBox="1"/>
          <p:nvPr/>
        </p:nvSpPr>
        <p:spPr>
          <a:xfrm>
            <a:off x="3017923" y="7700053"/>
            <a:ext cx="13362729" cy="918570"/>
          </a:xfrm>
          <a:prstGeom prst="rect">
            <a:avLst/>
          </a:prstGeom>
        </p:spPr>
        <p:txBody>
          <a:bodyPr lIns="0" tIns="0" rIns="0" bIns="0" rtlCol="0" anchor="t">
            <a:spAutoFit/>
          </a:bodyPr>
          <a:lstStyle/>
          <a:p>
            <a:pPr algn="just">
              <a:lnSpc>
                <a:spcPts val="3661"/>
              </a:lnSpc>
            </a:pPr>
            <a:r>
              <a:rPr lang="en-US" sz="2141" spc="23">
                <a:solidFill>
                  <a:srgbClr val="FFFFFF"/>
                </a:solidFill>
                <a:latin typeface="Neo Tech"/>
                <a:ea typeface="Neo Tech"/>
                <a:cs typeface="Neo Tech"/>
                <a:sym typeface="Neo Tech"/>
              </a:rPr>
              <a:t>Dalam sistem embedded modern, perpindahan I/O antar sistem sangat penting untuk memungkinkan integrasi berbagai modul, sensor, dan perangkat kontrol dalam satu sistem yang saling terhubung.</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3566"/>
        </a:solidFill>
        <a:effectLst/>
      </p:bgPr>
    </p:bg>
    <p:spTree>
      <p:nvGrpSpPr>
        <p:cNvPr id="1" name=""/>
        <p:cNvGrpSpPr/>
        <p:nvPr/>
      </p:nvGrpSpPr>
      <p:grpSpPr>
        <a:xfrm>
          <a:off x="0" y="0"/>
          <a:ext cx="0" cy="0"/>
          <a:chOff x="0" y="0"/>
          <a:chExt cx="0" cy="0"/>
        </a:xfrm>
      </p:grpSpPr>
      <p:sp>
        <p:nvSpPr>
          <p:cNvPr id="2" name="Freeform 2"/>
          <p:cNvSpPr/>
          <p:nvPr/>
        </p:nvSpPr>
        <p:spPr>
          <a:xfrm>
            <a:off x="12252153"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3" name="Freeform 3"/>
          <p:cNvSpPr/>
          <p:nvPr/>
        </p:nvSpPr>
        <p:spPr>
          <a:xfrm>
            <a:off x="6126077" y="-892347"/>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9999"/>
            </a:blip>
            <a:stretch>
              <a:fillRect/>
            </a:stretch>
          </a:blipFill>
        </p:spPr>
      </p:sp>
      <p:sp>
        <p:nvSpPr>
          <p:cNvPr id="4" name="Freeform 4"/>
          <p:cNvSpPr/>
          <p:nvPr/>
        </p:nvSpPr>
        <p:spPr>
          <a:xfrm>
            <a:off x="12252153"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5" name="Freeform 5"/>
          <p:cNvSpPr/>
          <p:nvPr/>
        </p:nvSpPr>
        <p:spPr>
          <a:xfrm>
            <a:off x="6126077" y="5143500"/>
            <a:ext cx="6035847" cy="6035847"/>
          </a:xfrm>
          <a:custGeom>
            <a:avLst/>
            <a:gdLst/>
            <a:ahLst/>
            <a:cxnLst/>
            <a:rect l="l" t="t" r="r" b="b"/>
            <a:pathLst>
              <a:path w="6035847" h="6035847">
                <a:moveTo>
                  <a:pt x="0" y="0"/>
                </a:moveTo>
                <a:lnTo>
                  <a:pt x="6035846" y="0"/>
                </a:lnTo>
                <a:lnTo>
                  <a:pt x="6035846" y="6035847"/>
                </a:lnTo>
                <a:lnTo>
                  <a:pt x="0" y="6035847"/>
                </a:lnTo>
                <a:lnTo>
                  <a:pt x="0" y="0"/>
                </a:lnTo>
                <a:close/>
              </a:path>
            </a:pathLst>
          </a:custGeom>
          <a:blipFill>
            <a:blip r:embed="rId2">
              <a:alphaModFix amt="9999"/>
            </a:blip>
            <a:stretch>
              <a:fillRect/>
            </a:stretch>
          </a:blipFill>
        </p:spPr>
      </p:sp>
      <p:sp>
        <p:nvSpPr>
          <p:cNvPr id="6" name="Freeform 6"/>
          <p:cNvSpPr/>
          <p:nvPr/>
        </p:nvSpPr>
        <p:spPr>
          <a:xfrm>
            <a:off x="0" y="-892347"/>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7" name="Freeform 7"/>
          <p:cNvSpPr/>
          <p:nvPr/>
        </p:nvSpPr>
        <p:spPr>
          <a:xfrm>
            <a:off x="0" y="5143500"/>
            <a:ext cx="6035847" cy="6035847"/>
          </a:xfrm>
          <a:custGeom>
            <a:avLst/>
            <a:gdLst/>
            <a:ahLst/>
            <a:cxnLst/>
            <a:rect l="l" t="t" r="r" b="b"/>
            <a:pathLst>
              <a:path w="6035847" h="6035847">
                <a:moveTo>
                  <a:pt x="0" y="0"/>
                </a:moveTo>
                <a:lnTo>
                  <a:pt x="6035847" y="0"/>
                </a:lnTo>
                <a:lnTo>
                  <a:pt x="6035847" y="6035847"/>
                </a:lnTo>
                <a:lnTo>
                  <a:pt x="0" y="6035847"/>
                </a:lnTo>
                <a:lnTo>
                  <a:pt x="0" y="0"/>
                </a:lnTo>
                <a:close/>
              </a:path>
            </a:pathLst>
          </a:custGeom>
          <a:blipFill>
            <a:blip r:embed="rId2">
              <a:alphaModFix amt="9999"/>
            </a:blip>
            <a:stretch>
              <a:fillRect/>
            </a:stretch>
          </a:blipFill>
        </p:spPr>
      </p:sp>
      <p:sp>
        <p:nvSpPr>
          <p:cNvPr id="8" name="Freeform 8"/>
          <p:cNvSpPr/>
          <p:nvPr/>
        </p:nvSpPr>
        <p:spPr>
          <a:xfrm>
            <a:off x="1729946" y="1028700"/>
            <a:ext cx="14828108" cy="8229600"/>
          </a:xfrm>
          <a:custGeom>
            <a:avLst/>
            <a:gdLst/>
            <a:ahLst/>
            <a:cxnLst/>
            <a:rect l="l" t="t" r="r" b="b"/>
            <a:pathLst>
              <a:path w="14828108" h="8229600">
                <a:moveTo>
                  <a:pt x="0" y="0"/>
                </a:moveTo>
                <a:lnTo>
                  <a:pt x="14828108" y="0"/>
                </a:lnTo>
                <a:lnTo>
                  <a:pt x="14828108" y="8229600"/>
                </a:lnTo>
                <a:lnTo>
                  <a:pt x="0" y="82296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9" name="Freeform 9"/>
          <p:cNvSpPr/>
          <p:nvPr/>
        </p:nvSpPr>
        <p:spPr>
          <a:xfrm>
            <a:off x="-471355" y="7684325"/>
            <a:ext cx="3731115" cy="2957757"/>
          </a:xfrm>
          <a:custGeom>
            <a:avLst/>
            <a:gdLst/>
            <a:ahLst/>
            <a:cxnLst/>
            <a:rect l="l" t="t" r="r" b="b"/>
            <a:pathLst>
              <a:path w="3731115" h="2957757">
                <a:moveTo>
                  <a:pt x="0" y="0"/>
                </a:moveTo>
                <a:lnTo>
                  <a:pt x="3731115" y="0"/>
                </a:lnTo>
                <a:lnTo>
                  <a:pt x="3731115" y="2957757"/>
                </a:lnTo>
                <a:lnTo>
                  <a:pt x="0" y="2957757"/>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0" name="Freeform 10"/>
          <p:cNvSpPr/>
          <p:nvPr/>
        </p:nvSpPr>
        <p:spPr>
          <a:xfrm flipH="1">
            <a:off x="15604847" y="-832180"/>
            <a:ext cx="3396344" cy="2692375"/>
          </a:xfrm>
          <a:custGeom>
            <a:avLst/>
            <a:gdLst/>
            <a:ahLst/>
            <a:cxnLst/>
            <a:rect l="l" t="t" r="r" b="b"/>
            <a:pathLst>
              <a:path w="3396344" h="2692375">
                <a:moveTo>
                  <a:pt x="3396345" y="0"/>
                </a:moveTo>
                <a:lnTo>
                  <a:pt x="0" y="0"/>
                </a:lnTo>
                <a:lnTo>
                  <a:pt x="0" y="2692375"/>
                </a:lnTo>
                <a:lnTo>
                  <a:pt x="3396345" y="2692375"/>
                </a:lnTo>
                <a:lnTo>
                  <a:pt x="3396345" y="0"/>
                </a:lnTo>
                <a:close/>
              </a:path>
            </a:pathLst>
          </a:custGeom>
          <a:blipFill>
            <a:blip r:embed="rId5">
              <a:extLst>
                <a:ext uri="{96DAC541-7B7A-43D3-8B79-37D633B846F1}">
                  <asvg:svgBlip xmlns:asvg="http://schemas.microsoft.com/office/drawing/2016/SVG/main" r:embed="rId6"/>
                </a:ext>
              </a:extLst>
            </a:blip>
            <a:stretch>
              <a:fillRect/>
            </a:stretch>
          </a:blipFill>
        </p:spPr>
      </p:sp>
      <p:sp>
        <p:nvSpPr>
          <p:cNvPr id="11" name="AutoShape 11"/>
          <p:cNvSpPr/>
          <p:nvPr/>
        </p:nvSpPr>
        <p:spPr>
          <a:xfrm flipV="1">
            <a:off x="4030157" y="2618302"/>
            <a:ext cx="10227686" cy="0"/>
          </a:xfrm>
          <a:prstGeom prst="line">
            <a:avLst/>
          </a:prstGeom>
          <a:ln w="38100" cap="flat">
            <a:solidFill>
              <a:srgbClr val="FFFFFF"/>
            </a:solidFill>
            <a:prstDash val="solid"/>
            <a:headEnd type="none" w="sm" len="sm"/>
            <a:tailEnd type="none" w="sm" len="sm"/>
          </a:ln>
        </p:spPr>
      </p:sp>
      <p:sp>
        <p:nvSpPr>
          <p:cNvPr id="12" name="Freeform 12"/>
          <p:cNvSpPr/>
          <p:nvPr/>
        </p:nvSpPr>
        <p:spPr>
          <a:xfrm>
            <a:off x="3259760" y="6378821"/>
            <a:ext cx="2242799" cy="1529181"/>
          </a:xfrm>
          <a:custGeom>
            <a:avLst/>
            <a:gdLst/>
            <a:ahLst/>
            <a:cxnLst/>
            <a:rect l="l" t="t" r="r" b="b"/>
            <a:pathLst>
              <a:path w="2242799" h="1529181">
                <a:moveTo>
                  <a:pt x="0" y="0"/>
                </a:moveTo>
                <a:lnTo>
                  <a:pt x="2242799" y="0"/>
                </a:lnTo>
                <a:lnTo>
                  <a:pt x="2242799"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3" name="Freeform 13"/>
          <p:cNvSpPr/>
          <p:nvPr/>
        </p:nvSpPr>
        <p:spPr>
          <a:xfrm>
            <a:off x="12781048" y="6378821"/>
            <a:ext cx="2242799" cy="1529181"/>
          </a:xfrm>
          <a:custGeom>
            <a:avLst/>
            <a:gdLst/>
            <a:ahLst/>
            <a:cxnLst/>
            <a:rect l="l" t="t" r="r" b="b"/>
            <a:pathLst>
              <a:path w="2242799" h="1529181">
                <a:moveTo>
                  <a:pt x="0" y="0"/>
                </a:moveTo>
                <a:lnTo>
                  <a:pt x="2242800" y="0"/>
                </a:lnTo>
                <a:lnTo>
                  <a:pt x="2242800" y="1529181"/>
                </a:lnTo>
                <a:lnTo>
                  <a:pt x="0" y="152918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4" name="TextBox 14"/>
          <p:cNvSpPr txBox="1"/>
          <p:nvPr/>
        </p:nvSpPr>
        <p:spPr>
          <a:xfrm>
            <a:off x="5062878" y="3006667"/>
            <a:ext cx="8162244" cy="3230627"/>
          </a:xfrm>
          <a:prstGeom prst="rect">
            <a:avLst/>
          </a:prstGeom>
        </p:spPr>
        <p:txBody>
          <a:bodyPr lIns="0" tIns="0" rIns="0" bIns="0" rtlCol="0" anchor="t">
            <a:spAutoFit/>
          </a:bodyPr>
          <a:lstStyle/>
          <a:p>
            <a:pPr algn="ctr">
              <a:lnSpc>
                <a:spcPts val="12087"/>
              </a:lnSpc>
            </a:pPr>
            <a:r>
              <a:rPr lang="en-US" sz="9443" b="1">
                <a:solidFill>
                  <a:srgbClr val="1EF1FF"/>
                </a:solidFill>
                <a:latin typeface="Neo Tech Bold"/>
                <a:ea typeface="Neo Tech Bold"/>
                <a:cs typeface="Neo Tech Bold"/>
                <a:sym typeface="Neo Tech Bold"/>
              </a:rPr>
              <a:t>SEKIAN</a:t>
            </a:r>
          </a:p>
          <a:p>
            <a:pPr algn="ctr">
              <a:lnSpc>
                <a:spcPts val="12087"/>
              </a:lnSpc>
            </a:pPr>
            <a:r>
              <a:rPr lang="en-US" sz="9443" b="1">
                <a:solidFill>
                  <a:srgbClr val="1EF1FF"/>
                </a:solidFill>
                <a:latin typeface="Neo Tech Bold"/>
                <a:ea typeface="Neo Tech Bold"/>
                <a:cs typeface="Neo Tech Bold"/>
                <a:sym typeface="Neo Tech Bold"/>
              </a:rPr>
              <a:t>TERIMAKASIH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Custom</PresentationFormat>
  <Paragraphs>0</Paragraphs>
  <Slides>8</Slides>
  <Notes>0</Notes>
  <HiddenSlides>0</HiddenSlides>
  <MMClips>0</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TUGAS 1_PRAK. SISTEM EMBEDDED_014_HIDAYAH AFITA SARI_GPIO DAN DIGITAL I/O</dc:title>
  <cp:lastModifiedBy>Hidayah Sari</cp:lastModifiedBy>
  <cp:revision>2</cp:revision>
  <dcterms:created xsi:type="dcterms:W3CDTF">2006-08-16T00:00:00Z</dcterms:created>
  <dcterms:modified xsi:type="dcterms:W3CDTF">2026-03-08T13:50:54Z</dcterms:modified>
  <dc:identifier>DAHC_v3WyyQ</dc:identifier>
</cp:coreProperties>
</file>