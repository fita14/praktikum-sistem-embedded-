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rygada 1918" pitchFamily="2" charset="0"/>
      <p:regular r:id="rId13"/>
    </p:embeddedFont>
    <p:embeddedFont>
      <p:font typeface="Brygada 1918 Semi Bold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notesMaster" Target="notesMasters/notesMaster1.xml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63C5E-796C-FE43-BA8E-B1D077DDBF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CBDE6-D54C-7B4B-AC4D-B6D5B74F3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876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hyperlink" Target="https://gamma.app/?utm_source=made-with-gamma" TargetMode="External" /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C06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EBD4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3.jpe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3.jpe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 /><Relationship Id="rId3" Type="http://schemas.openxmlformats.org/officeDocument/2006/relationships/image" Target="../media/image5.png" /><Relationship Id="rId7" Type="http://schemas.openxmlformats.org/officeDocument/2006/relationships/image" Target="../media/image9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Relationship Id="rId6" Type="http://schemas.openxmlformats.org/officeDocument/2006/relationships/image" Target="../media/image8.svg" /><Relationship Id="rId11" Type="http://schemas.openxmlformats.org/officeDocument/2006/relationships/image" Target="../media/image3.jpeg" /><Relationship Id="rId5" Type="http://schemas.openxmlformats.org/officeDocument/2006/relationships/image" Target="../media/image7.png" /><Relationship Id="rId10" Type="http://schemas.openxmlformats.org/officeDocument/2006/relationships/image" Target="../media/image12.svg" /><Relationship Id="rId4" Type="http://schemas.openxmlformats.org/officeDocument/2006/relationships/image" Target="../media/image6.svg" /><Relationship Id="rId9" Type="http://schemas.openxmlformats.org/officeDocument/2006/relationships/image" Target="../media/image11.pn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3.jpe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 /><Relationship Id="rId7" Type="http://schemas.openxmlformats.org/officeDocument/2006/relationships/image" Target="../media/image3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Relationship Id="rId6" Type="http://schemas.openxmlformats.org/officeDocument/2006/relationships/image" Target="../media/image17.png" /><Relationship Id="rId5" Type="http://schemas.openxmlformats.org/officeDocument/2006/relationships/image" Target="../media/image16.png" /><Relationship Id="rId4" Type="http://schemas.openxmlformats.org/officeDocument/2006/relationships/image" Target="../media/image15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 /><Relationship Id="rId3" Type="http://schemas.openxmlformats.org/officeDocument/2006/relationships/image" Target="../media/image19.png" /><Relationship Id="rId7" Type="http://schemas.openxmlformats.org/officeDocument/2006/relationships/image" Target="../media/image23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8.xml" /><Relationship Id="rId6" Type="http://schemas.openxmlformats.org/officeDocument/2006/relationships/image" Target="../media/image22.svg" /><Relationship Id="rId11" Type="http://schemas.openxmlformats.org/officeDocument/2006/relationships/image" Target="../media/image3.jpeg" /><Relationship Id="rId5" Type="http://schemas.openxmlformats.org/officeDocument/2006/relationships/image" Target="../media/image21.png" /><Relationship Id="rId10" Type="http://schemas.openxmlformats.org/officeDocument/2006/relationships/image" Target="../media/image26.svg" /><Relationship Id="rId4" Type="http://schemas.openxmlformats.org/officeDocument/2006/relationships/image" Target="../media/image20.svg" /><Relationship Id="rId9" Type="http://schemas.openxmlformats.org/officeDocument/2006/relationships/image" Target="../media/image25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9.xml" /><Relationship Id="rId4" Type="http://schemas.openxmlformats.org/officeDocument/2006/relationships/image" Target="../media/image3.jpe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 /><Relationship Id="rId3" Type="http://schemas.openxmlformats.org/officeDocument/2006/relationships/image" Target="../media/image28.png" /><Relationship Id="rId7" Type="http://schemas.openxmlformats.org/officeDocument/2006/relationships/image" Target="../media/image32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0.xml" /><Relationship Id="rId6" Type="http://schemas.openxmlformats.org/officeDocument/2006/relationships/image" Target="../media/image31.svg" /><Relationship Id="rId5" Type="http://schemas.openxmlformats.org/officeDocument/2006/relationships/image" Target="../media/image30.png" /><Relationship Id="rId4" Type="http://schemas.openxmlformats.org/officeDocument/2006/relationships/image" Target="../media/image29.svg" /><Relationship Id="rId9" Type="http://schemas.openxmlformats.org/officeDocument/2006/relationships/image" Target="../media/image3.jpe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1.xml" /><Relationship Id="rId5" Type="http://schemas.openxmlformats.org/officeDocument/2006/relationships/image" Target="../media/image3.jpeg" /><Relationship Id="rId4" Type="http://schemas.openxmlformats.org/officeDocument/2006/relationships/image" Target="../media/image3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Interrupt &amp; Timer pada Sistem Embedded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Praktikum Sistem Embedded: Analisis Implementasi Interrupt dan Timer pada STM32 dan ESP32</a:t>
            </a:r>
            <a:endParaRPr lang="en-US" sz="17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CC042F-0915-4466-8F71-602D23BEC1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9636" y="7026949"/>
            <a:ext cx="2290764" cy="12026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523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314" y="3496270"/>
            <a:ext cx="228600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59981" y="3909298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Nama: </a:t>
            </a:r>
            <a:r>
              <a:rPr lang="en-US" sz="175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Hidayah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Afita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Sari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559981" y="4476274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NIM: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40040324620014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559981" y="5043249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Kelas: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</a:t>
            </a:r>
            <a:r>
              <a:rPr lang="en-US" sz="1750" dirty="0" err="1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Praktikum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A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5559981" y="5610225"/>
            <a:ext cx="828413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Modul: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Interrupt &amp; Timer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8002FC-BCB4-1D0F-31B5-FC9C367F9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9636" y="7026949"/>
            <a:ext cx="2290764" cy="12026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0207"/>
            <a:ext cx="66410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Gambaran Umum Modul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862614"/>
            <a:ext cx="6407944" cy="2229445"/>
          </a:xfrm>
          <a:prstGeom prst="roundRect">
            <a:avLst>
              <a:gd name="adj" fmla="val 15261"/>
            </a:avLst>
          </a:prstGeom>
          <a:solidFill>
            <a:srgbClr val="626C3B"/>
          </a:solidFill>
          <a:ln w="7620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8224" y="20970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5390" y="228409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4" y="30043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 Platform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8224" y="349472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STM32 dan ESP32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1862614"/>
            <a:ext cx="6408063" cy="2229445"/>
          </a:xfrm>
          <a:prstGeom prst="roundRect">
            <a:avLst>
              <a:gd name="adj" fmla="val 15261"/>
            </a:avLst>
          </a:prstGeom>
          <a:solidFill>
            <a:srgbClr val="626C3B"/>
          </a:solidFill>
          <a:ln w="7620">
            <a:solidFill>
              <a:srgbClr val="837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62982" y="20970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50148" y="2284095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2" y="30043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Interrupt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62982" y="3494723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External dan nested interrupt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318873"/>
            <a:ext cx="6407944" cy="2229445"/>
          </a:xfrm>
          <a:prstGeom prst="roundRect">
            <a:avLst>
              <a:gd name="adj" fmla="val 15261"/>
            </a:avLst>
          </a:prstGeom>
          <a:solidFill>
            <a:srgbClr val="626C3B"/>
          </a:solidFill>
          <a:ln w="7620">
            <a:solidFill>
              <a:srgbClr val="E8A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1028224" y="455330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15390" y="4740354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46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Timer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8224" y="5950982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Basic, PWM, capture, compare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318873"/>
            <a:ext cx="6408063" cy="2229445"/>
          </a:xfrm>
          <a:prstGeom prst="roundRect">
            <a:avLst>
              <a:gd name="adj" fmla="val 15261"/>
            </a:avLst>
          </a:prstGeom>
          <a:solidFill>
            <a:srgbClr val="626C3B"/>
          </a:solidFill>
          <a:ln w="7620">
            <a:solidFill>
              <a:srgbClr val="CC91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7662982" y="455330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CC91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50148" y="4740354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2" y="54605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Watchdog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62982" y="5950982"/>
            <a:ext cx="59391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IWDG dan WWDG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93790" y="680346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Modul ini mencakup implementasi interrupt eksternal dan berbagai mode timer pada dua arsitektur mikrokontroler populer.</a:t>
            </a:r>
            <a:endParaRPr lang="en-US" sz="17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9675ED2-C520-3760-D77A-AEF6512582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799366" y="7268308"/>
            <a:ext cx="1831033" cy="9612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7705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Konsep Interrupt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452813"/>
            <a:ext cx="350150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ISR (Interrupt Service Routine)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4388287"/>
            <a:ext cx="35015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Subrutin yang dieksekusi saat interrupt terjadi. Menghentikan program utama sementara untuk menangani event kritis.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10342721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Vector Table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342721" y="4033957"/>
            <a:ext cx="350150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Tabel berisi alamat ISR untuk setiap interrupt source. CPU mengacu ke tabel ini untuk menentukan fungsi mana yang dipanggil.</a:t>
            </a:r>
            <a:endParaRPr lang="en-US" sz="17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8856F3-62E8-EB1C-53DE-C6638674A2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9636" y="7026949"/>
            <a:ext cx="2290764" cy="12026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2074"/>
            <a:ext cx="67464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External Interrupt (EXTI)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4481"/>
            <a:ext cx="4347567" cy="9072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0604" y="36485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Konfigurasi Pin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020604" y="4138970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Set pin sebagai input interrupt dengan GPIO mode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2514481"/>
            <a:ext cx="4347567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68171" y="36485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Trigger Mode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68171" y="4138970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Rising edge, falling edge, atau both untuk deteksi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2514481"/>
            <a:ext cx="4347567" cy="9072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5738" y="36485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Priority Grouping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5738" y="4138970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Nested interrupt dengan tingkat prioritas berbeda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5346740"/>
            <a:ext cx="13042821" cy="1530787"/>
          </a:xfrm>
          <a:prstGeom prst="roundRect">
            <a:avLst>
              <a:gd name="adj" fmla="val 22227"/>
            </a:avLst>
          </a:prstGeom>
          <a:solidFill>
            <a:srgbClr val="DFE4C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604" y="5683210"/>
            <a:ext cx="283488" cy="2268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5630228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STM32:</a:t>
            </a: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NVIC (Nested Vector Interrupt Controller) untuk manajemen prioritas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1530906" y="6197203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ESP32:</a:t>
            </a:r>
            <a:r>
              <a:rPr lang="en-US" sz="1750" dirty="0">
                <a:solidFill>
                  <a:srgbClr val="000000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Interrupt Matrix untuk routing fleksibel antara peripheral dan CPU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4634CD4-EFEA-E147-788F-BF45D1EC4F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39636" y="7026949"/>
            <a:ext cx="2290764" cy="12026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4271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Timer Architecture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7916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146703"/>
            <a:ext cx="3664744" cy="30480"/>
          </a:xfrm>
          <a:prstGeom prst="rect">
            <a:avLst/>
          </a:prstGeom>
          <a:solidFill>
            <a:srgbClr val="626C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280190" y="3321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Prescaler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3811429"/>
            <a:ext cx="36647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Membagi frekuensi clock untuk mengatur resolusi timer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171748" y="279165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3146703"/>
            <a:ext cx="3664863" cy="30480"/>
          </a:xfrm>
          <a:prstGeom prst="rect">
            <a:avLst/>
          </a:prstGeom>
          <a:solidFill>
            <a:srgbClr val="8379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10171748" y="3321010"/>
            <a:ext cx="28519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Auto-Reload Register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171748" y="3811429"/>
            <a:ext cx="3664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Nilai yang dimuat ulang ke counter saat overflow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80190" y="4934069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80190" y="5289113"/>
            <a:ext cx="7556421" cy="30480"/>
          </a:xfrm>
          <a:prstGeom prst="rect">
            <a:avLst/>
          </a:prstGeom>
          <a:solidFill>
            <a:srgbClr val="E8AF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280190" y="54634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Counter Mode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280190" y="595383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Up-counting, down-counting, atau center-aligned</a:t>
            </a:r>
            <a:endParaRPr lang="en-US" sz="17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9E88668-9CCE-DBD0-5D29-727D238B7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9636" y="7026949"/>
            <a:ext cx="2290764" cy="12026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11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Mode Timer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993588"/>
            <a:ext cx="453628" cy="4536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Basic Timer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30906" y="3561874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Penghitungan sederhana dengan interrupt saat overflow. Digunakan untuk timing dasar dan delay.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993588"/>
            <a:ext cx="453628" cy="4536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94000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PWM Mode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194000" y="3561874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Generate sinyal PWM untuk kontrol motor, LED, atau power. Duty cycle dikontrol melalui capture/compare register.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104209"/>
            <a:ext cx="453628" cy="4536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0906" y="5182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Input Capture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530906" y="5672495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Menangkap waktu event eksternal. Berguna untuk mengukur frekuensi, periode, atau durasi pulsa.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5104209"/>
            <a:ext cx="453628" cy="4536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94000" y="51820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Output Compare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194000" y="567249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Generate event saat counter mencapai nilai tertentu. Untuk waveform generation dan timing presisi.</a:t>
            </a:r>
            <a:endParaRPr lang="en-US" sz="17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7714ED6-76AE-7B0D-BC9E-7F1B22ABDE6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339636" y="7026949"/>
            <a:ext cx="2290764" cy="12026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200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Watchdog Timer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89583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IWDG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354794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Independent Watchdog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114919"/>
            <a:ext cx="35015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Timer internal dengan clock sendiri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Reset jika tidak di-reload tepat waktu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Lebih sederhana dan robust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Cocok untuk aplikasi kritis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289583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WWDG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10342721" y="3547943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Window Watchdog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4114919"/>
            <a:ext cx="35015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Timer dengan "jendela" waktu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Reset jika reload terlalu cepat/terlambat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Lebih ketat dalam timing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Detect software stuck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E89F93-0511-E847-3B84-8F5A4C004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9636" y="7026949"/>
            <a:ext cx="2290764" cy="12026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4120"/>
            <a:ext cx="83113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Perbandingan STM32 vs ESP32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96527"/>
            <a:ext cx="4196358" cy="3998952"/>
          </a:xfrm>
          <a:prstGeom prst="roundRect">
            <a:avLst>
              <a:gd name="adj" fmla="val 8508"/>
            </a:avLst>
          </a:prstGeom>
          <a:solidFill>
            <a:srgbClr val="F6EBD4"/>
          </a:solidFill>
          <a:ln w="30480">
            <a:solidFill>
              <a:srgbClr val="626C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4270" y="2727008"/>
            <a:ext cx="4135398" cy="680442"/>
          </a:xfrm>
          <a:prstGeom prst="roundRect">
            <a:avLst>
              <a:gd name="adj" fmla="val 44628"/>
            </a:avLst>
          </a:prstGeom>
          <a:solidFill>
            <a:srgbClr val="626C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1888" y="2893219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084" y="3634264"/>
            <a:ext cx="30329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Interrupt Architecture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51084" y="412468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STM32: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NVIC dengan priority grouping fleksibel dan 256 level prioritas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51084" y="5349478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ESP32: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Interrupt Matrix dengan routing dinamis antara peripheral dan CPU core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2696527"/>
            <a:ext cx="4196358" cy="3998952"/>
          </a:xfrm>
          <a:prstGeom prst="roundRect">
            <a:avLst>
              <a:gd name="adj" fmla="val 8508"/>
            </a:avLst>
          </a:prstGeom>
          <a:solidFill>
            <a:srgbClr val="F6EBD4"/>
          </a:solidFill>
          <a:ln w="30480">
            <a:solidFill>
              <a:srgbClr val="8379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247442" y="2727008"/>
            <a:ext cx="4135398" cy="680442"/>
          </a:xfrm>
          <a:prstGeom prst="roundRect">
            <a:avLst>
              <a:gd name="adj" fmla="val 44628"/>
            </a:avLst>
          </a:prstGeom>
          <a:solidFill>
            <a:srgbClr val="8379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5060" y="2893219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74256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Timer Peripheral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74256" y="412468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STM32: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TIMx dengan mode lengkap dan sinkronisasi antar timer</a:t>
            </a:r>
            <a:endParaRPr lang="en-US" sz="1750" dirty="0"/>
          </a:p>
        </p:txBody>
      </p:sp>
      <p:sp>
        <p:nvSpPr>
          <p:cNvPr id="14" name="Text 10"/>
          <p:cNvSpPr/>
          <p:nvPr/>
        </p:nvSpPr>
        <p:spPr>
          <a:xfrm>
            <a:off x="5474256" y="534947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ESP32: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Timer Group dengan driver esp-idf yang lebih abstrak</a:t>
            </a:r>
            <a:endParaRPr lang="en-US" sz="1750" dirty="0"/>
          </a:p>
        </p:txBody>
      </p:sp>
      <p:sp>
        <p:nvSpPr>
          <p:cNvPr id="15" name="Shape 11"/>
          <p:cNvSpPr/>
          <p:nvPr/>
        </p:nvSpPr>
        <p:spPr>
          <a:xfrm>
            <a:off x="9640133" y="2696527"/>
            <a:ext cx="4196358" cy="3998952"/>
          </a:xfrm>
          <a:prstGeom prst="roundRect">
            <a:avLst>
              <a:gd name="adj" fmla="val 8508"/>
            </a:avLst>
          </a:prstGeom>
          <a:solidFill>
            <a:srgbClr val="F6EBD4"/>
          </a:solidFill>
          <a:ln w="30480">
            <a:solidFill>
              <a:srgbClr val="E8AF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670613" y="2727008"/>
            <a:ext cx="4135398" cy="680442"/>
          </a:xfrm>
          <a:prstGeom prst="roundRect">
            <a:avLst>
              <a:gd name="adj" fmla="val 44628"/>
            </a:avLst>
          </a:prstGeom>
          <a:solidFill>
            <a:srgbClr val="E8AF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68232" y="2893219"/>
            <a:ext cx="340162" cy="3401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97427" y="36342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Fitur Tambahan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9897427" y="4124682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STM32: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Watchdog ganda (IWDG + WWDG) dengan konfigurasi presisi</a:t>
            </a:r>
            <a:endParaRPr lang="en-US" sz="1750" dirty="0"/>
          </a:p>
        </p:txBody>
      </p:sp>
      <p:sp>
        <p:nvSpPr>
          <p:cNvPr id="20" name="Text 15"/>
          <p:cNvSpPr/>
          <p:nvPr/>
        </p:nvSpPr>
        <p:spPr>
          <a:xfrm>
            <a:off x="9897427" y="5349478"/>
            <a:ext cx="36817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ESP32:</a:t>
            </a: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 Timer RTC dan timer software untuk aplikasi IoT</a:t>
            </a:r>
            <a:endParaRPr lang="en-US" sz="17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219B9AA-E139-D842-3F2E-9ACADB12DBB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39636" y="7026949"/>
            <a:ext cx="2290764" cy="12026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869680" y="0"/>
            <a:ext cx="5760720" cy="8229600"/>
          </a:xfrm>
          <a:prstGeom prst="rect">
            <a:avLst/>
          </a:prstGeom>
          <a:solidFill>
            <a:srgbClr val="DFDFE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631388"/>
            <a:ext cx="71836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Rangkuman &amp; Kesimpulan</a:t>
            </a:r>
            <a:endParaRPr lang="en-US" sz="4450" dirty="0"/>
          </a:p>
        </p:txBody>
      </p:sp>
      <p:sp>
        <p:nvSpPr>
          <p:cNvPr id="6" name="Shape 2"/>
          <p:cNvSpPr/>
          <p:nvPr/>
        </p:nvSpPr>
        <p:spPr>
          <a:xfrm>
            <a:off x="793790" y="1680329"/>
            <a:ext cx="510302" cy="510302"/>
          </a:xfrm>
          <a:prstGeom prst="roundRect">
            <a:avLst>
              <a:gd name="adj" fmla="val 66675"/>
            </a:avLst>
          </a:prstGeom>
          <a:solidFill>
            <a:srgbClr val="626C3B"/>
          </a:solidFill>
          <a:ln w="7620">
            <a:solidFill>
              <a:srgbClr val="7B85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78860" y="172283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4"/>
          <p:cNvSpPr/>
          <p:nvPr/>
        </p:nvSpPr>
        <p:spPr>
          <a:xfrm>
            <a:off x="1530906" y="17581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Kontrol Real-Time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530906" y="2248614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Interrupt memungkinkan respons cepat terhadap event eksternal tanpa polling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793790" y="3428048"/>
            <a:ext cx="510302" cy="510302"/>
          </a:xfrm>
          <a:prstGeom prst="roundRect">
            <a:avLst>
              <a:gd name="adj" fmla="val 66675"/>
            </a:avLst>
          </a:prstGeom>
          <a:solidFill>
            <a:srgbClr val="83792E"/>
          </a:solidFill>
          <a:ln w="7620">
            <a:solidFill>
              <a:srgbClr val="9C92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878860" y="347055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2" name="Text 8"/>
          <p:cNvSpPr/>
          <p:nvPr/>
        </p:nvSpPr>
        <p:spPr>
          <a:xfrm>
            <a:off x="1530906" y="35059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Timing Presisi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1530906" y="3996333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Timer menyediakan akurasi mikrodetik untuk aplikasi kritis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93790" y="4812863"/>
            <a:ext cx="510302" cy="510302"/>
          </a:xfrm>
          <a:prstGeom prst="roundRect">
            <a:avLst>
              <a:gd name="adj" fmla="val 66675"/>
            </a:avLst>
          </a:prstGeom>
          <a:solidFill>
            <a:srgbClr val="E8AF3B"/>
          </a:solidFill>
          <a:ln w="7620">
            <a:solidFill>
              <a:srgbClr val="CE95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878860" y="4855369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2"/>
          <p:cNvSpPr/>
          <p:nvPr/>
        </p:nvSpPr>
        <p:spPr>
          <a:xfrm>
            <a:off x="1530906" y="4890730"/>
            <a:ext cx="33839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011"/>
                </a:solidFill>
                <a:latin typeface="Brygada 1918 Semi Bold" pitchFamily="34" charset="0"/>
                <a:ea typeface="Brygada 1918 Semi Bold" pitchFamily="34" charset="-122"/>
                <a:cs typeface="Brygada 1918 Semi Bold" pitchFamily="34" charset="-120"/>
              </a:rPr>
              <a:t>Perbedaan Implementasi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1530906" y="538114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STM32 lebih presisi dan terstruktur, ESP32 lebih fleksibel dan IoT-ready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1133951" y="6617256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i="1" dirty="0">
                <a:solidFill>
                  <a:srgbClr val="403011"/>
                </a:solidFill>
                <a:latin typeface="Brygada 1918" pitchFamily="34" charset="0"/>
                <a:ea typeface="Brygada 1918" pitchFamily="34" charset="-122"/>
                <a:cs typeface="Brygada 1918" pitchFamily="34" charset="-120"/>
              </a:rPr>
              <a:t>"Interrupt dan timer adalah fondasi sistem embedded untuk mencapai real-time performance dan responsibilitas yang tinggi."</a:t>
            </a:r>
            <a:endParaRPr lang="en-US" sz="1750" dirty="0"/>
          </a:p>
        </p:txBody>
      </p:sp>
      <p:sp>
        <p:nvSpPr>
          <p:cNvPr id="19" name="Shape 15"/>
          <p:cNvSpPr/>
          <p:nvPr/>
        </p:nvSpPr>
        <p:spPr>
          <a:xfrm>
            <a:off x="793790" y="6362105"/>
            <a:ext cx="30480" cy="1236107"/>
          </a:xfrm>
          <a:prstGeom prst="rect">
            <a:avLst/>
          </a:prstGeom>
          <a:solidFill>
            <a:srgbClr val="626C3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95EAF3F-4643-828B-78A1-9A6793E169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7734887" y="1134791"/>
            <a:ext cx="8229599" cy="59600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Hidayah Sari</cp:lastModifiedBy>
  <cp:revision>2</cp:revision>
  <dcterms:created xsi:type="dcterms:W3CDTF">2026-03-06T09:41:48Z</dcterms:created>
  <dcterms:modified xsi:type="dcterms:W3CDTF">2026-03-06T09:48:57Z</dcterms:modified>
</cp:coreProperties>
</file>